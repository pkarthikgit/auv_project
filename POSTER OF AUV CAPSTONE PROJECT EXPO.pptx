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32004000" cy="36347400"/>
  <p:notesSz cx="6858000" cy="9144000"/>
  <p:embeddedFontLst>
    <p:embeddedFont>
      <p:font typeface="Poppins" panose="00000500000000000000" pitchFamily="2" charset="0"/>
      <p:regular r:id="rId3"/>
      <p:bold r:id="rId4"/>
    </p:embeddedFont>
    <p:embeddedFont>
      <p:font typeface="Poppins Bold" panose="00000800000000000000" charset="0"/>
      <p:regular r:id="rId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5" d="100"/>
          <a:sy n="15" d="100"/>
        </p:scale>
        <p:origin x="2314" y="1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font" Target="fonts/font1.fntdata"/><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3.fntdata"/><Relationship Id="rId10" Type="http://schemas.microsoft.com/office/2016/11/relationships/changesInfo" Target="changesInfos/changesInfo1.xml"/><Relationship Id="rId4" Type="http://schemas.openxmlformats.org/officeDocument/2006/relationships/font" Target="fonts/font2.fntdata"/><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LISETTY KARTHIK" userId="5f32fbb399e81ea2" providerId="LiveId" clId="{7F1A5EF6-F9DA-4FC1-8C1E-6084272B4261}"/>
    <pc:docChg chg="modSld">
      <pc:chgData name="POLISETTY KARTHIK" userId="5f32fbb399e81ea2" providerId="LiveId" clId="{7F1A5EF6-F9DA-4FC1-8C1E-6084272B4261}" dt="2025-11-18T13:09:10.207" v="6" actId="1076"/>
      <pc:docMkLst>
        <pc:docMk/>
      </pc:docMkLst>
      <pc:sldChg chg="modSp mod">
        <pc:chgData name="POLISETTY KARTHIK" userId="5f32fbb399e81ea2" providerId="LiveId" clId="{7F1A5EF6-F9DA-4FC1-8C1E-6084272B4261}" dt="2025-11-18T13:09:10.207" v="6" actId="1076"/>
        <pc:sldMkLst>
          <pc:docMk/>
          <pc:sldMk cId="0" sldId="256"/>
        </pc:sldMkLst>
        <pc:spChg chg="mod">
          <ac:chgData name="POLISETTY KARTHIK" userId="5f32fbb399e81ea2" providerId="LiveId" clId="{7F1A5EF6-F9DA-4FC1-8C1E-6084272B4261}" dt="2025-11-18T13:09:02.788" v="5" actId="14100"/>
          <ac:spMkLst>
            <pc:docMk/>
            <pc:sldMk cId="0" sldId="256"/>
            <ac:spMk id="47" creationId="{00000000-0000-0000-0000-000000000000}"/>
          </ac:spMkLst>
        </pc:spChg>
        <pc:spChg chg="mod">
          <ac:chgData name="POLISETTY KARTHIK" userId="5f32fbb399e81ea2" providerId="LiveId" clId="{7F1A5EF6-F9DA-4FC1-8C1E-6084272B4261}" dt="2025-11-18T13:09:10.207" v="6" actId="1076"/>
          <ac:spMkLst>
            <pc:docMk/>
            <pc:sldMk cId="0" sldId="256"/>
            <ac:spMk id="51" creationId="{00000000-0000-0000-0000-000000000000}"/>
          </ac:spMkLst>
        </pc:spChg>
        <pc:spChg chg="mod">
          <ac:chgData name="POLISETTY KARTHIK" userId="5f32fbb399e81ea2" providerId="LiveId" clId="{7F1A5EF6-F9DA-4FC1-8C1E-6084272B4261}" dt="2025-11-02T18:27:12.726" v="4" actId="20577"/>
          <ac:spMkLst>
            <pc:docMk/>
            <pc:sldMk cId="0" sldId="256"/>
            <ac:spMk id="5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17625" y="5329972"/>
            <a:ext cx="6994085" cy="904429"/>
          </a:xfrm>
          <a:prstGeom prst="rect">
            <a:avLst/>
          </a:prstGeom>
        </p:spPr>
        <p:txBody>
          <a:bodyPr lIns="0" tIns="0" rIns="0" bIns="0" rtlCol="0" anchor="t">
            <a:spAutoFit/>
          </a:bodyPr>
          <a:lstStyle/>
          <a:p>
            <a:pPr algn="l">
              <a:lnSpc>
                <a:spcPts val="6600"/>
              </a:lnSpc>
            </a:pPr>
            <a:r>
              <a:rPr lang="en-US" sz="5500">
                <a:solidFill>
                  <a:srgbClr val="000000"/>
                </a:solidFill>
                <a:latin typeface="Poppins"/>
                <a:ea typeface="Poppins"/>
                <a:cs typeface="Poppins"/>
                <a:sym typeface="Poppins"/>
              </a:rPr>
              <a:t>Insert your text Here</a:t>
            </a:r>
          </a:p>
        </p:txBody>
      </p:sp>
      <p:sp>
        <p:nvSpPr>
          <p:cNvPr id="3" name="TextBox 3"/>
          <p:cNvSpPr txBox="1"/>
          <p:nvPr/>
        </p:nvSpPr>
        <p:spPr>
          <a:xfrm>
            <a:off x="439948" y="19218602"/>
            <a:ext cx="6994085" cy="904429"/>
          </a:xfrm>
          <a:prstGeom prst="rect">
            <a:avLst/>
          </a:prstGeom>
        </p:spPr>
        <p:txBody>
          <a:bodyPr lIns="0" tIns="0" rIns="0" bIns="0" rtlCol="0" anchor="t">
            <a:spAutoFit/>
          </a:bodyPr>
          <a:lstStyle/>
          <a:p>
            <a:pPr algn="l">
              <a:lnSpc>
                <a:spcPts val="6600"/>
              </a:lnSpc>
            </a:pPr>
            <a:r>
              <a:rPr lang="en-US" sz="5500">
                <a:solidFill>
                  <a:srgbClr val="000000"/>
                </a:solidFill>
                <a:latin typeface="Poppins"/>
                <a:ea typeface="Poppins"/>
                <a:cs typeface="Poppins"/>
                <a:sym typeface="Poppins"/>
              </a:rPr>
              <a:t>Insert your text Here</a:t>
            </a:r>
          </a:p>
        </p:txBody>
      </p:sp>
      <p:sp>
        <p:nvSpPr>
          <p:cNvPr id="4" name="TextBox 4"/>
          <p:cNvSpPr txBox="1"/>
          <p:nvPr/>
        </p:nvSpPr>
        <p:spPr>
          <a:xfrm>
            <a:off x="11239622" y="5329972"/>
            <a:ext cx="6994085" cy="904429"/>
          </a:xfrm>
          <a:prstGeom prst="rect">
            <a:avLst/>
          </a:prstGeom>
        </p:spPr>
        <p:txBody>
          <a:bodyPr lIns="0" tIns="0" rIns="0" bIns="0" rtlCol="0" anchor="t">
            <a:spAutoFit/>
          </a:bodyPr>
          <a:lstStyle/>
          <a:p>
            <a:pPr algn="l">
              <a:lnSpc>
                <a:spcPts val="6600"/>
              </a:lnSpc>
            </a:pPr>
            <a:r>
              <a:rPr lang="en-US" sz="5500">
                <a:solidFill>
                  <a:srgbClr val="000000"/>
                </a:solidFill>
                <a:latin typeface="Poppins"/>
                <a:ea typeface="Poppins"/>
                <a:cs typeface="Poppins"/>
                <a:sym typeface="Poppins"/>
              </a:rPr>
              <a:t>Insert your text Here</a:t>
            </a:r>
          </a:p>
        </p:txBody>
      </p:sp>
      <p:sp>
        <p:nvSpPr>
          <p:cNvPr id="5" name="TextBox 5"/>
          <p:cNvSpPr txBox="1"/>
          <p:nvPr/>
        </p:nvSpPr>
        <p:spPr>
          <a:xfrm>
            <a:off x="21579838" y="5329972"/>
            <a:ext cx="6994085" cy="904429"/>
          </a:xfrm>
          <a:prstGeom prst="rect">
            <a:avLst/>
          </a:prstGeom>
        </p:spPr>
        <p:txBody>
          <a:bodyPr lIns="0" tIns="0" rIns="0" bIns="0" rtlCol="0" anchor="t">
            <a:spAutoFit/>
          </a:bodyPr>
          <a:lstStyle/>
          <a:p>
            <a:pPr algn="l">
              <a:lnSpc>
                <a:spcPts val="6600"/>
              </a:lnSpc>
            </a:pPr>
            <a:r>
              <a:rPr lang="en-US" sz="5500">
                <a:solidFill>
                  <a:srgbClr val="000000"/>
                </a:solidFill>
                <a:latin typeface="Poppins"/>
                <a:ea typeface="Poppins"/>
                <a:cs typeface="Poppins"/>
                <a:sym typeface="Poppins"/>
              </a:rPr>
              <a:t>Insert your text Here</a:t>
            </a:r>
          </a:p>
        </p:txBody>
      </p:sp>
      <p:sp>
        <p:nvSpPr>
          <p:cNvPr id="6" name="TextBox 6"/>
          <p:cNvSpPr txBox="1"/>
          <p:nvPr/>
        </p:nvSpPr>
        <p:spPr>
          <a:xfrm>
            <a:off x="11216640" y="25636220"/>
            <a:ext cx="6994085" cy="904429"/>
          </a:xfrm>
          <a:prstGeom prst="rect">
            <a:avLst/>
          </a:prstGeom>
        </p:spPr>
        <p:txBody>
          <a:bodyPr lIns="0" tIns="0" rIns="0" bIns="0" rtlCol="0" anchor="t">
            <a:spAutoFit/>
          </a:bodyPr>
          <a:lstStyle/>
          <a:p>
            <a:pPr algn="l">
              <a:lnSpc>
                <a:spcPts val="6600"/>
              </a:lnSpc>
            </a:pPr>
            <a:r>
              <a:rPr lang="en-US" sz="5500">
                <a:solidFill>
                  <a:srgbClr val="000000"/>
                </a:solidFill>
                <a:latin typeface="Poppins"/>
                <a:ea typeface="Poppins"/>
                <a:cs typeface="Poppins"/>
                <a:sym typeface="Poppins"/>
              </a:rPr>
              <a:t>Insert your text Here</a:t>
            </a:r>
          </a:p>
        </p:txBody>
      </p:sp>
      <p:grpSp>
        <p:nvGrpSpPr>
          <p:cNvPr id="7" name="Group 7"/>
          <p:cNvGrpSpPr/>
          <p:nvPr/>
        </p:nvGrpSpPr>
        <p:grpSpPr>
          <a:xfrm>
            <a:off x="0" y="1"/>
            <a:ext cx="32004000" cy="2842026"/>
            <a:chOff x="0" y="0"/>
            <a:chExt cx="42672000" cy="3789368"/>
          </a:xfrm>
        </p:grpSpPr>
        <p:sp>
          <p:nvSpPr>
            <p:cNvPr id="8" name="Freeform 8"/>
            <p:cNvSpPr/>
            <p:nvPr/>
          </p:nvSpPr>
          <p:spPr>
            <a:xfrm>
              <a:off x="0" y="0"/>
              <a:ext cx="42672000" cy="3789426"/>
            </a:xfrm>
            <a:custGeom>
              <a:avLst/>
              <a:gdLst/>
              <a:ahLst/>
              <a:cxnLst/>
              <a:rect l="l" t="t" r="r" b="b"/>
              <a:pathLst>
                <a:path w="42672000" h="3789426">
                  <a:moveTo>
                    <a:pt x="0" y="0"/>
                  </a:moveTo>
                  <a:lnTo>
                    <a:pt x="42672000" y="0"/>
                  </a:lnTo>
                  <a:lnTo>
                    <a:pt x="42672000" y="3789426"/>
                  </a:lnTo>
                  <a:lnTo>
                    <a:pt x="0" y="3789426"/>
                  </a:lnTo>
                  <a:close/>
                </a:path>
              </a:pathLst>
            </a:custGeom>
            <a:solidFill>
              <a:srgbClr val="E2F0D9"/>
            </a:solidFill>
          </p:spPr>
        </p:sp>
      </p:grpSp>
      <p:grpSp>
        <p:nvGrpSpPr>
          <p:cNvPr id="9" name="Group 9"/>
          <p:cNvGrpSpPr/>
          <p:nvPr/>
        </p:nvGrpSpPr>
        <p:grpSpPr>
          <a:xfrm>
            <a:off x="0" y="2434638"/>
            <a:ext cx="32004000" cy="33854522"/>
            <a:chOff x="0" y="0"/>
            <a:chExt cx="42672000" cy="45139363"/>
          </a:xfrm>
        </p:grpSpPr>
        <p:sp>
          <p:nvSpPr>
            <p:cNvPr id="10" name="Freeform 10"/>
            <p:cNvSpPr/>
            <p:nvPr/>
          </p:nvSpPr>
          <p:spPr>
            <a:xfrm>
              <a:off x="0" y="0"/>
              <a:ext cx="42672000" cy="45139347"/>
            </a:xfrm>
            <a:custGeom>
              <a:avLst/>
              <a:gdLst/>
              <a:ahLst/>
              <a:cxnLst/>
              <a:rect l="l" t="t" r="r" b="b"/>
              <a:pathLst>
                <a:path w="42672000" h="45139347">
                  <a:moveTo>
                    <a:pt x="0" y="0"/>
                  </a:moveTo>
                  <a:lnTo>
                    <a:pt x="42672000" y="0"/>
                  </a:lnTo>
                  <a:lnTo>
                    <a:pt x="42672000" y="45139347"/>
                  </a:lnTo>
                  <a:lnTo>
                    <a:pt x="0" y="45139347"/>
                  </a:lnTo>
                  <a:close/>
                </a:path>
              </a:pathLst>
            </a:custGeom>
            <a:solidFill>
              <a:srgbClr val="004740"/>
            </a:solidFill>
          </p:spPr>
        </p:sp>
      </p:grpSp>
      <p:grpSp>
        <p:nvGrpSpPr>
          <p:cNvPr id="11" name="Group 11"/>
          <p:cNvGrpSpPr/>
          <p:nvPr/>
        </p:nvGrpSpPr>
        <p:grpSpPr>
          <a:xfrm>
            <a:off x="348508" y="3739665"/>
            <a:ext cx="10243292" cy="11049056"/>
            <a:chOff x="0" y="0"/>
            <a:chExt cx="13657720" cy="14732072"/>
          </a:xfrm>
        </p:grpSpPr>
        <p:sp>
          <p:nvSpPr>
            <p:cNvPr id="12" name="Freeform 12"/>
            <p:cNvSpPr/>
            <p:nvPr/>
          </p:nvSpPr>
          <p:spPr>
            <a:xfrm>
              <a:off x="0" y="0"/>
              <a:ext cx="13657707" cy="14732090"/>
            </a:xfrm>
            <a:custGeom>
              <a:avLst/>
              <a:gdLst/>
              <a:ahLst/>
              <a:cxnLst/>
              <a:rect l="l" t="t" r="r" b="b"/>
              <a:pathLst>
                <a:path w="13657707" h="14732090">
                  <a:moveTo>
                    <a:pt x="0" y="294886"/>
                  </a:moveTo>
                  <a:cubicBezTo>
                    <a:pt x="0" y="132027"/>
                    <a:pt x="152273" y="0"/>
                    <a:pt x="340106" y="0"/>
                  </a:cubicBezTo>
                  <a:lnTo>
                    <a:pt x="13317601" y="0"/>
                  </a:lnTo>
                  <a:cubicBezTo>
                    <a:pt x="13505435" y="0"/>
                    <a:pt x="13657707" y="132027"/>
                    <a:pt x="13657707" y="294886"/>
                  </a:cubicBezTo>
                  <a:lnTo>
                    <a:pt x="13657707" y="14437201"/>
                  </a:lnTo>
                  <a:cubicBezTo>
                    <a:pt x="13657707" y="14600061"/>
                    <a:pt x="13505435" y="14732090"/>
                    <a:pt x="13317601" y="14732090"/>
                  </a:cubicBezTo>
                  <a:lnTo>
                    <a:pt x="340106" y="14732090"/>
                  </a:lnTo>
                  <a:cubicBezTo>
                    <a:pt x="152273" y="14732090"/>
                    <a:pt x="0" y="14600061"/>
                    <a:pt x="0" y="14437201"/>
                  </a:cubicBezTo>
                  <a:close/>
                </a:path>
              </a:pathLst>
            </a:custGeom>
            <a:solidFill>
              <a:srgbClr val="E2F0D9"/>
            </a:solidFill>
          </p:spPr>
        </p:sp>
      </p:grpSp>
      <p:grpSp>
        <p:nvGrpSpPr>
          <p:cNvPr id="13" name="Group 13"/>
          <p:cNvGrpSpPr/>
          <p:nvPr/>
        </p:nvGrpSpPr>
        <p:grpSpPr>
          <a:xfrm>
            <a:off x="247096" y="15169066"/>
            <a:ext cx="10306522" cy="20981126"/>
            <a:chOff x="0" y="0"/>
            <a:chExt cx="13065539" cy="17682720"/>
          </a:xfrm>
        </p:grpSpPr>
        <p:sp>
          <p:nvSpPr>
            <p:cNvPr id="14" name="Freeform 14"/>
            <p:cNvSpPr/>
            <p:nvPr/>
          </p:nvSpPr>
          <p:spPr>
            <a:xfrm>
              <a:off x="0" y="0"/>
              <a:ext cx="13065503" cy="17682676"/>
            </a:xfrm>
            <a:custGeom>
              <a:avLst/>
              <a:gdLst/>
              <a:ahLst/>
              <a:cxnLst/>
              <a:rect l="l" t="t" r="r" b="b"/>
              <a:pathLst>
                <a:path w="13065503" h="17682676">
                  <a:moveTo>
                    <a:pt x="0" y="250850"/>
                  </a:moveTo>
                  <a:cubicBezTo>
                    <a:pt x="0" y="112296"/>
                    <a:pt x="145635" y="0"/>
                    <a:pt x="325324" y="0"/>
                  </a:cubicBezTo>
                  <a:lnTo>
                    <a:pt x="12740177" y="0"/>
                  </a:lnTo>
                  <a:cubicBezTo>
                    <a:pt x="12919866" y="0"/>
                    <a:pt x="13065503" y="112296"/>
                    <a:pt x="13065503" y="250850"/>
                  </a:cubicBezTo>
                  <a:lnTo>
                    <a:pt x="13065503" y="17431824"/>
                  </a:lnTo>
                  <a:cubicBezTo>
                    <a:pt x="13065503" y="17570379"/>
                    <a:pt x="12919866" y="17682676"/>
                    <a:pt x="12740177" y="17682676"/>
                  </a:cubicBezTo>
                  <a:lnTo>
                    <a:pt x="325324" y="17682676"/>
                  </a:lnTo>
                  <a:cubicBezTo>
                    <a:pt x="145635" y="17682676"/>
                    <a:pt x="0" y="17570379"/>
                    <a:pt x="0" y="17431824"/>
                  </a:cubicBezTo>
                  <a:close/>
                </a:path>
              </a:pathLst>
            </a:custGeom>
            <a:solidFill>
              <a:srgbClr val="E2F0D9"/>
            </a:solidFill>
          </p:spPr>
        </p:sp>
      </p:grpSp>
      <p:grpSp>
        <p:nvGrpSpPr>
          <p:cNvPr id="15" name="Group 15"/>
          <p:cNvGrpSpPr/>
          <p:nvPr/>
        </p:nvGrpSpPr>
        <p:grpSpPr>
          <a:xfrm>
            <a:off x="10901363" y="3804930"/>
            <a:ext cx="20825967" cy="7487966"/>
            <a:chOff x="0" y="0"/>
            <a:chExt cx="52228833" cy="18778850"/>
          </a:xfrm>
        </p:grpSpPr>
        <p:sp>
          <p:nvSpPr>
            <p:cNvPr id="16" name="Freeform 16"/>
            <p:cNvSpPr/>
            <p:nvPr/>
          </p:nvSpPr>
          <p:spPr>
            <a:xfrm>
              <a:off x="0" y="0"/>
              <a:ext cx="52228818" cy="18778872"/>
            </a:xfrm>
            <a:custGeom>
              <a:avLst/>
              <a:gdLst/>
              <a:ahLst/>
              <a:cxnLst/>
              <a:rect l="l" t="t" r="r" b="b"/>
              <a:pathLst>
                <a:path w="52228818" h="18778872">
                  <a:moveTo>
                    <a:pt x="0" y="236589"/>
                  </a:moveTo>
                  <a:cubicBezTo>
                    <a:pt x="0" y="105946"/>
                    <a:pt x="582384" y="0"/>
                    <a:pt x="1300522" y="0"/>
                  </a:cubicBezTo>
                  <a:lnTo>
                    <a:pt x="50928296" y="0"/>
                  </a:lnTo>
                  <a:cubicBezTo>
                    <a:pt x="51646435" y="0"/>
                    <a:pt x="52228818" y="105946"/>
                    <a:pt x="52228818" y="236589"/>
                  </a:cubicBezTo>
                  <a:lnTo>
                    <a:pt x="52228818" y="18542278"/>
                  </a:lnTo>
                  <a:cubicBezTo>
                    <a:pt x="52228818" y="18672921"/>
                    <a:pt x="51646435" y="18778872"/>
                    <a:pt x="50928296" y="18778872"/>
                  </a:cubicBezTo>
                  <a:lnTo>
                    <a:pt x="1300522" y="18778872"/>
                  </a:lnTo>
                  <a:cubicBezTo>
                    <a:pt x="582384" y="18778872"/>
                    <a:pt x="0" y="18672921"/>
                    <a:pt x="0" y="18542278"/>
                  </a:cubicBezTo>
                  <a:close/>
                </a:path>
              </a:pathLst>
            </a:custGeom>
            <a:solidFill>
              <a:srgbClr val="E2F0D9"/>
            </a:solidFill>
          </p:spPr>
        </p:sp>
      </p:grpSp>
      <p:grpSp>
        <p:nvGrpSpPr>
          <p:cNvPr id="17" name="Group 17"/>
          <p:cNvGrpSpPr/>
          <p:nvPr/>
        </p:nvGrpSpPr>
        <p:grpSpPr>
          <a:xfrm>
            <a:off x="10884911" y="11540488"/>
            <a:ext cx="20825967" cy="15079342"/>
            <a:chOff x="0" y="0"/>
            <a:chExt cx="47678007" cy="34521948"/>
          </a:xfrm>
        </p:grpSpPr>
        <p:sp>
          <p:nvSpPr>
            <p:cNvPr id="18" name="Freeform 18"/>
            <p:cNvSpPr/>
            <p:nvPr/>
          </p:nvSpPr>
          <p:spPr>
            <a:xfrm>
              <a:off x="0" y="0"/>
              <a:ext cx="47678011" cy="34521970"/>
            </a:xfrm>
            <a:custGeom>
              <a:avLst/>
              <a:gdLst/>
              <a:ahLst/>
              <a:cxnLst/>
              <a:rect l="l" t="t" r="r" b="b"/>
              <a:pathLst>
                <a:path w="47678011" h="34521970">
                  <a:moveTo>
                    <a:pt x="0" y="467337"/>
                  </a:moveTo>
                  <a:cubicBezTo>
                    <a:pt x="0" y="209280"/>
                    <a:pt x="531661" y="0"/>
                    <a:pt x="1187234" y="0"/>
                  </a:cubicBezTo>
                  <a:lnTo>
                    <a:pt x="46490784" y="0"/>
                  </a:lnTo>
                  <a:cubicBezTo>
                    <a:pt x="47146353" y="0"/>
                    <a:pt x="47678011" y="209280"/>
                    <a:pt x="47678011" y="467337"/>
                  </a:cubicBezTo>
                  <a:lnTo>
                    <a:pt x="47678011" y="34054641"/>
                  </a:lnTo>
                  <a:cubicBezTo>
                    <a:pt x="47678011" y="34312696"/>
                    <a:pt x="47146353" y="34521970"/>
                    <a:pt x="46490784" y="34521970"/>
                  </a:cubicBezTo>
                  <a:lnTo>
                    <a:pt x="1187234" y="34521970"/>
                  </a:lnTo>
                  <a:cubicBezTo>
                    <a:pt x="531661" y="34521970"/>
                    <a:pt x="0" y="34312696"/>
                    <a:pt x="0" y="34054641"/>
                  </a:cubicBezTo>
                  <a:close/>
                </a:path>
              </a:pathLst>
            </a:custGeom>
            <a:solidFill>
              <a:srgbClr val="E2F0D9"/>
            </a:solidFill>
          </p:spPr>
        </p:sp>
      </p:grpSp>
      <p:grpSp>
        <p:nvGrpSpPr>
          <p:cNvPr id="19" name="Group 19"/>
          <p:cNvGrpSpPr/>
          <p:nvPr/>
        </p:nvGrpSpPr>
        <p:grpSpPr>
          <a:xfrm>
            <a:off x="10901362" y="27153288"/>
            <a:ext cx="11856273" cy="8968985"/>
            <a:chOff x="0" y="0"/>
            <a:chExt cx="10982986" cy="8308364"/>
          </a:xfrm>
        </p:grpSpPr>
        <p:sp>
          <p:nvSpPr>
            <p:cNvPr id="20" name="Freeform 20"/>
            <p:cNvSpPr/>
            <p:nvPr/>
          </p:nvSpPr>
          <p:spPr>
            <a:xfrm>
              <a:off x="0" y="0"/>
              <a:ext cx="10982969" cy="8308379"/>
            </a:xfrm>
            <a:custGeom>
              <a:avLst/>
              <a:gdLst/>
              <a:ahLst/>
              <a:cxnLst/>
              <a:rect l="l" t="t" r="r" b="b"/>
              <a:pathLst>
                <a:path w="10982969" h="8308379">
                  <a:moveTo>
                    <a:pt x="0" y="206906"/>
                  </a:moveTo>
                  <a:cubicBezTo>
                    <a:pt x="0" y="92563"/>
                    <a:pt x="27332" y="0"/>
                    <a:pt x="61096" y="0"/>
                  </a:cubicBezTo>
                  <a:lnTo>
                    <a:pt x="10921874" y="0"/>
                  </a:lnTo>
                  <a:cubicBezTo>
                    <a:pt x="10955586" y="0"/>
                    <a:pt x="10982969" y="92563"/>
                    <a:pt x="10982969" y="206906"/>
                  </a:cubicBezTo>
                  <a:lnTo>
                    <a:pt x="10982969" y="8101478"/>
                  </a:lnTo>
                  <a:cubicBezTo>
                    <a:pt x="10982969" y="8215650"/>
                    <a:pt x="10955637" y="8308379"/>
                    <a:pt x="10921874" y="8308379"/>
                  </a:cubicBezTo>
                  <a:lnTo>
                    <a:pt x="61096" y="8308379"/>
                  </a:lnTo>
                  <a:cubicBezTo>
                    <a:pt x="27332" y="8308379"/>
                    <a:pt x="0" y="8215821"/>
                    <a:pt x="0" y="8101478"/>
                  </a:cubicBezTo>
                  <a:close/>
                </a:path>
              </a:pathLst>
            </a:custGeom>
            <a:solidFill>
              <a:srgbClr val="E2F0D9"/>
            </a:solidFill>
          </p:spPr>
        </p:sp>
      </p:grpSp>
      <p:grpSp>
        <p:nvGrpSpPr>
          <p:cNvPr id="21" name="Group 21"/>
          <p:cNvGrpSpPr/>
          <p:nvPr/>
        </p:nvGrpSpPr>
        <p:grpSpPr>
          <a:xfrm>
            <a:off x="23002116" y="27153288"/>
            <a:ext cx="8725214" cy="8938505"/>
            <a:chOff x="0" y="0"/>
            <a:chExt cx="9161324" cy="9385276"/>
          </a:xfrm>
        </p:grpSpPr>
        <p:sp>
          <p:nvSpPr>
            <p:cNvPr id="22" name="Freeform 22"/>
            <p:cNvSpPr/>
            <p:nvPr/>
          </p:nvSpPr>
          <p:spPr>
            <a:xfrm>
              <a:off x="0" y="0"/>
              <a:ext cx="9161409" cy="9385353"/>
            </a:xfrm>
            <a:custGeom>
              <a:avLst/>
              <a:gdLst/>
              <a:ahLst/>
              <a:cxnLst/>
              <a:rect l="l" t="t" r="r" b="b"/>
              <a:pathLst>
                <a:path w="9161409" h="9385353">
                  <a:moveTo>
                    <a:pt x="0" y="233739"/>
                  </a:moveTo>
                  <a:cubicBezTo>
                    <a:pt x="0" y="104649"/>
                    <a:pt x="31223" y="0"/>
                    <a:pt x="69738" y="0"/>
                  </a:cubicBezTo>
                  <a:lnTo>
                    <a:pt x="9091614" y="0"/>
                  </a:lnTo>
                  <a:cubicBezTo>
                    <a:pt x="9130130" y="0"/>
                    <a:pt x="9161409" y="104649"/>
                    <a:pt x="9161409" y="233739"/>
                  </a:cubicBezTo>
                  <a:lnTo>
                    <a:pt x="9161409" y="9151623"/>
                  </a:lnTo>
                  <a:cubicBezTo>
                    <a:pt x="9161409" y="9280713"/>
                    <a:pt x="9130130" y="9385353"/>
                    <a:pt x="9091614" y="9385353"/>
                  </a:cubicBezTo>
                  <a:lnTo>
                    <a:pt x="69738" y="9385353"/>
                  </a:lnTo>
                  <a:cubicBezTo>
                    <a:pt x="31223" y="9385221"/>
                    <a:pt x="0" y="9280713"/>
                    <a:pt x="0" y="9151623"/>
                  </a:cubicBezTo>
                  <a:close/>
                </a:path>
              </a:pathLst>
            </a:custGeom>
            <a:solidFill>
              <a:srgbClr val="E2F0D9"/>
            </a:solidFill>
          </p:spPr>
        </p:sp>
      </p:grpSp>
      <p:grpSp>
        <p:nvGrpSpPr>
          <p:cNvPr id="23" name="Group 23"/>
          <p:cNvGrpSpPr>
            <a:grpSpLocks noChangeAspect="1"/>
          </p:cNvGrpSpPr>
          <p:nvPr/>
        </p:nvGrpSpPr>
        <p:grpSpPr>
          <a:xfrm>
            <a:off x="28575" y="89827"/>
            <a:ext cx="6343650" cy="2457953"/>
            <a:chOff x="0" y="0"/>
            <a:chExt cx="8458200" cy="3277271"/>
          </a:xfrm>
        </p:grpSpPr>
        <p:sp>
          <p:nvSpPr>
            <p:cNvPr id="24" name="Freeform 24" descr="A logo on a black background  AI-generated content may be incorrect."/>
            <p:cNvSpPr/>
            <p:nvPr/>
          </p:nvSpPr>
          <p:spPr>
            <a:xfrm>
              <a:off x="0" y="0"/>
              <a:ext cx="8458200" cy="3277235"/>
            </a:xfrm>
            <a:custGeom>
              <a:avLst/>
              <a:gdLst/>
              <a:ahLst/>
              <a:cxnLst/>
              <a:rect l="l" t="t" r="r" b="b"/>
              <a:pathLst>
                <a:path w="8458200" h="3277235">
                  <a:moveTo>
                    <a:pt x="0" y="0"/>
                  </a:moveTo>
                  <a:lnTo>
                    <a:pt x="8458200" y="0"/>
                  </a:lnTo>
                  <a:lnTo>
                    <a:pt x="8458200" y="3277235"/>
                  </a:lnTo>
                  <a:lnTo>
                    <a:pt x="0" y="3277235"/>
                  </a:lnTo>
                  <a:lnTo>
                    <a:pt x="0" y="0"/>
                  </a:lnTo>
                  <a:close/>
                </a:path>
              </a:pathLst>
            </a:custGeom>
            <a:blipFill>
              <a:blip r:embed="rId2"/>
              <a:stretch>
                <a:fillRect t="-23058" b="-22262"/>
              </a:stretch>
            </a:blipFill>
          </p:spPr>
        </p:sp>
      </p:grpSp>
      <p:grpSp>
        <p:nvGrpSpPr>
          <p:cNvPr id="25" name="Group 25"/>
          <p:cNvGrpSpPr>
            <a:grpSpLocks noChangeAspect="1"/>
          </p:cNvGrpSpPr>
          <p:nvPr/>
        </p:nvGrpSpPr>
        <p:grpSpPr>
          <a:xfrm>
            <a:off x="28763291" y="89827"/>
            <a:ext cx="3240709" cy="2288751"/>
            <a:chOff x="0" y="0"/>
            <a:chExt cx="4320945" cy="3051668"/>
          </a:xfrm>
        </p:grpSpPr>
        <p:sp>
          <p:nvSpPr>
            <p:cNvPr id="26" name="Freeform 26" descr="A logo with text and dots  AI-generated content may be incorrect."/>
            <p:cNvSpPr/>
            <p:nvPr/>
          </p:nvSpPr>
          <p:spPr>
            <a:xfrm>
              <a:off x="0" y="0"/>
              <a:ext cx="4320921" cy="3051683"/>
            </a:xfrm>
            <a:custGeom>
              <a:avLst/>
              <a:gdLst/>
              <a:ahLst/>
              <a:cxnLst/>
              <a:rect l="l" t="t" r="r" b="b"/>
              <a:pathLst>
                <a:path w="4320921" h="3051683">
                  <a:moveTo>
                    <a:pt x="0" y="0"/>
                  </a:moveTo>
                  <a:lnTo>
                    <a:pt x="4320921" y="0"/>
                  </a:lnTo>
                  <a:lnTo>
                    <a:pt x="4320921" y="3051683"/>
                  </a:lnTo>
                  <a:lnTo>
                    <a:pt x="0" y="3051683"/>
                  </a:lnTo>
                  <a:lnTo>
                    <a:pt x="0" y="0"/>
                  </a:lnTo>
                  <a:close/>
                </a:path>
              </a:pathLst>
            </a:custGeom>
            <a:blipFill>
              <a:blip r:embed="rId3"/>
              <a:stretch>
                <a:fillRect/>
              </a:stretch>
            </a:blipFill>
          </p:spPr>
        </p:sp>
      </p:grpSp>
      <p:sp>
        <p:nvSpPr>
          <p:cNvPr id="41" name="TextBox 41"/>
          <p:cNvSpPr txBox="1"/>
          <p:nvPr/>
        </p:nvSpPr>
        <p:spPr>
          <a:xfrm>
            <a:off x="6983297" y="149728"/>
            <a:ext cx="20180028" cy="2308324"/>
          </a:xfrm>
          <a:prstGeom prst="rect">
            <a:avLst/>
          </a:prstGeom>
        </p:spPr>
        <p:txBody>
          <a:bodyPr lIns="0" tIns="0" rIns="0" bIns="0" rtlCol="0" anchor="t">
            <a:spAutoFit/>
          </a:bodyPr>
          <a:lstStyle/>
          <a:p>
            <a:pPr algn="ctr">
              <a:lnSpc>
                <a:spcPts val="6000"/>
              </a:lnSpc>
            </a:pPr>
            <a:r>
              <a:rPr lang="en-US" sz="5000" b="1" dirty="0">
                <a:solidFill>
                  <a:srgbClr val="004740"/>
                </a:solidFill>
                <a:latin typeface="Poppins Bold"/>
                <a:ea typeface="Poppins Bold"/>
                <a:cs typeface="Poppins Bold"/>
                <a:sym typeface="Poppins Bold"/>
              </a:rPr>
              <a:t>INDUSTRY PROJECT</a:t>
            </a:r>
          </a:p>
          <a:p>
            <a:pPr algn="ctr">
              <a:lnSpc>
                <a:spcPts val="6000"/>
              </a:lnSpc>
            </a:pPr>
            <a:r>
              <a:rPr lang="en-US" sz="5000" b="1" dirty="0">
                <a:solidFill>
                  <a:srgbClr val="004740"/>
                </a:solidFill>
                <a:latin typeface="Poppins Bold"/>
                <a:ea typeface="Poppins Bold"/>
                <a:cs typeface="Poppins Bold"/>
                <a:sym typeface="Poppins Bold"/>
              </a:rPr>
              <a:t>Autonomous underwater vehicle for sea water intake   tunnel inspection and cleaning for Nuclear Power Plant</a:t>
            </a:r>
          </a:p>
        </p:txBody>
      </p:sp>
      <p:sp>
        <p:nvSpPr>
          <p:cNvPr id="42" name="TextBox 42"/>
          <p:cNvSpPr txBox="1"/>
          <p:nvPr/>
        </p:nvSpPr>
        <p:spPr>
          <a:xfrm>
            <a:off x="439948" y="3654562"/>
            <a:ext cx="3751210" cy="1028700"/>
          </a:xfrm>
          <a:prstGeom prst="rect">
            <a:avLst/>
          </a:prstGeom>
        </p:spPr>
        <p:txBody>
          <a:bodyPr wrap="square" lIns="0" tIns="0" rIns="0" bIns="0" rtlCol="0" anchor="t">
            <a:spAutoFit/>
          </a:bodyPr>
          <a:lstStyle/>
          <a:p>
            <a:pPr algn="l">
              <a:lnSpc>
                <a:spcPts val="7679"/>
              </a:lnSpc>
            </a:pPr>
            <a:r>
              <a:rPr lang="en-US" sz="6399" b="1" dirty="0">
                <a:solidFill>
                  <a:srgbClr val="004740"/>
                </a:solidFill>
                <a:latin typeface="Poppins Bold"/>
                <a:ea typeface="Poppins Bold"/>
                <a:cs typeface="Poppins Bold"/>
                <a:sym typeface="Poppins Bold"/>
              </a:rPr>
              <a:t>Abstract</a:t>
            </a:r>
          </a:p>
        </p:txBody>
      </p:sp>
      <p:sp>
        <p:nvSpPr>
          <p:cNvPr id="43" name="TextBox 43"/>
          <p:cNvSpPr txBox="1"/>
          <p:nvPr/>
        </p:nvSpPr>
        <p:spPr>
          <a:xfrm>
            <a:off x="458143" y="15074471"/>
            <a:ext cx="5651035" cy="1028700"/>
          </a:xfrm>
          <a:prstGeom prst="rect">
            <a:avLst/>
          </a:prstGeom>
        </p:spPr>
        <p:txBody>
          <a:bodyPr lIns="0" tIns="0" rIns="0" bIns="0" rtlCol="0" anchor="t">
            <a:spAutoFit/>
          </a:bodyPr>
          <a:lstStyle/>
          <a:p>
            <a:pPr algn="l">
              <a:lnSpc>
                <a:spcPts val="7679"/>
              </a:lnSpc>
            </a:pPr>
            <a:r>
              <a:rPr lang="en-US" sz="6399" b="1">
                <a:solidFill>
                  <a:srgbClr val="004740"/>
                </a:solidFill>
                <a:latin typeface="Poppins Bold"/>
                <a:ea typeface="Poppins Bold"/>
                <a:cs typeface="Poppins Bold"/>
                <a:sym typeface="Poppins Bold"/>
              </a:rPr>
              <a:t>Background</a:t>
            </a:r>
          </a:p>
        </p:txBody>
      </p:sp>
      <p:sp>
        <p:nvSpPr>
          <p:cNvPr id="44" name="TextBox 44"/>
          <p:cNvSpPr txBox="1"/>
          <p:nvPr/>
        </p:nvSpPr>
        <p:spPr>
          <a:xfrm>
            <a:off x="10976265" y="3886381"/>
            <a:ext cx="4220015" cy="1028700"/>
          </a:xfrm>
          <a:prstGeom prst="rect">
            <a:avLst/>
          </a:prstGeom>
        </p:spPr>
        <p:txBody>
          <a:bodyPr lIns="0" tIns="0" rIns="0" bIns="0" rtlCol="0" anchor="t">
            <a:spAutoFit/>
          </a:bodyPr>
          <a:lstStyle/>
          <a:p>
            <a:pPr algn="l">
              <a:lnSpc>
                <a:spcPts val="7679"/>
              </a:lnSpc>
            </a:pPr>
            <a:r>
              <a:rPr lang="en-US" sz="6399" b="1">
                <a:solidFill>
                  <a:srgbClr val="004740"/>
                </a:solidFill>
                <a:latin typeface="Poppins Bold"/>
                <a:ea typeface="Poppins Bold"/>
                <a:cs typeface="Poppins Bold"/>
                <a:sym typeface="Poppins Bold"/>
              </a:rPr>
              <a:t>Methods</a:t>
            </a:r>
          </a:p>
        </p:txBody>
      </p:sp>
      <p:sp>
        <p:nvSpPr>
          <p:cNvPr id="45" name="TextBox 45"/>
          <p:cNvSpPr txBox="1"/>
          <p:nvPr/>
        </p:nvSpPr>
        <p:spPr>
          <a:xfrm>
            <a:off x="11071515" y="11664371"/>
            <a:ext cx="3642168" cy="1028700"/>
          </a:xfrm>
          <a:prstGeom prst="rect">
            <a:avLst/>
          </a:prstGeom>
        </p:spPr>
        <p:txBody>
          <a:bodyPr lIns="0" tIns="0" rIns="0" bIns="0" rtlCol="0" anchor="t">
            <a:spAutoFit/>
          </a:bodyPr>
          <a:lstStyle/>
          <a:p>
            <a:pPr algn="l">
              <a:lnSpc>
                <a:spcPts val="7679"/>
              </a:lnSpc>
            </a:pPr>
            <a:r>
              <a:rPr lang="en-US" sz="6399" b="1">
                <a:solidFill>
                  <a:srgbClr val="004740"/>
                </a:solidFill>
                <a:latin typeface="Poppins Bold"/>
                <a:ea typeface="Poppins Bold"/>
                <a:cs typeface="Poppins Bold"/>
                <a:sym typeface="Poppins Bold"/>
              </a:rPr>
              <a:t>Results</a:t>
            </a:r>
          </a:p>
        </p:txBody>
      </p:sp>
      <p:sp>
        <p:nvSpPr>
          <p:cNvPr id="46" name="TextBox 46"/>
          <p:cNvSpPr txBox="1"/>
          <p:nvPr/>
        </p:nvSpPr>
        <p:spPr>
          <a:xfrm>
            <a:off x="23148676" y="27373665"/>
            <a:ext cx="4808910" cy="1028700"/>
          </a:xfrm>
          <a:prstGeom prst="rect">
            <a:avLst/>
          </a:prstGeom>
        </p:spPr>
        <p:txBody>
          <a:bodyPr lIns="0" tIns="0" rIns="0" bIns="0" rtlCol="0" anchor="t">
            <a:spAutoFit/>
          </a:bodyPr>
          <a:lstStyle/>
          <a:p>
            <a:pPr algn="l">
              <a:lnSpc>
                <a:spcPts val="7679"/>
              </a:lnSpc>
            </a:pPr>
            <a:r>
              <a:rPr lang="en-US" sz="6399" b="1">
                <a:solidFill>
                  <a:srgbClr val="004740"/>
                </a:solidFill>
                <a:latin typeface="Poppins Bold"/>
                <a:ea typeface="Poppins Bold"/>
                <a:cs typeface="Poppins Bold"/>
                <a:sym typeface="Poppins Bold"/>
              </a:rPr>
              <a:t>Conclusion</a:t>
            </a:r>
          </a:p>
        </p:txBody>
      </p:sp>
      <p:sp>
        <p:nvSpPr>
          <p:cNvPr id="47" name="TextBox 47"/>
          <p:cNvSpPr txBox="1"/>
          <p:nvPr/>
        </p:nvSpPr>
        <p:spPr>
          <a:xfrm>
            <a:off x="11126506" y="27202215"/>
            <a:ext cx="9218894" cy="819070"/>
          </a:xfrm>
          <a:prstGeom prst="rect">
            <a:avLst/>
          </a:prstGeom>
        </p:spPr>
        <p:txBody>
          <a:bodyPr wrap="square" lIns="0" tIns="0" rIns="0" bIns="0" rtlCol="0" anchor="t">
            <a:spAutoFit/>
          </a:bodyPr>
          <a:lstStyle/>
          <a:p>
            <a:pPr algn="l">
              <a:lnSpc>
                <a:spcPts val="6480"/>
              </a:lnSpc>
            </a:pPr>
            <a:r>
              <a:rPr lang="en-US" sz="5400" b="1" dirty="0">
                <a:solidFill>
                  <a:srgbClr val="004740"/>
                </a:solidFill>
                <a:latin typeface="Poppins Bold"/>
                <a:ea typeface="Poppins Bold"/>
                <a:cs typeface="Poppins Bold"/>
                <a:sym typeface="Poppins Bold"/>
              </a:rPr>
              <a:t>Future Perspectives</a:t>
            </a:r>
          </a:p>
        </p:txBody>
      </p:sp>
      <p:sp>
        <p:nvSpPr>
          <p:cNvPr id="48" name="TextBox 48"/>
          <p:cNvSpPr txBox="1"/>
          <p:nvPr/>
        </p:nvSpPr>
        <p:spPr>
          <a:xfrm>
            <a:off x="280516" y="2892555"/>
            <a:ext cx="31723484" cy="424155"/>
          </a:xfrm>
          <a:prstGeom prst="rect">
            <a:avLst/>
          </a:prstGeom>
        </p:spPr>
        <p:txBody>
          <a:bodyPr lIns="0" tIns="0" rIns="0" bIns="0" rtlCol="0" anchor="t">
            <a:spAutoFit/>
          </a:bodyPr>
          <a:lstStyle/>
          <a:p>
            <a:pPr algn="ctr">
              <a:lnSpc>
                <a:spcPts val="2912"/>
              </a:lnSpc>
            </a:pPr>
            <a:r>
              <a:rPr lang="en-US" sz="4045" b="1" dirty="0">
                <a:solidFill>
                  <a:srgbClr val="F4E4C9"/>
                </a:solidFill>
                <a:latin typeface="Poppins Bold"/>
                <a:ea typeface="Poppins Bold"/>
                <a:cs typeface="Poppins Bold"/>
                <a:sym typeface="Poppins Bold"/>
              </a:rPr>
              <a:t>Team Members :  </a:t>
            </a:r>
            <a:r>
              <a:rPr lang="en-US" sz="4045" b="1" dirty="0" err="1">
                <a:solidFill>
                  <a:srgbClr val="F4E4C9"/>
                </a:solidFill>
                <a:latin typeface="Poppins Bold"/>
                <a:ea typeface="Poppins Bold"/>
                <a:cs typeface="Poppins Bold"/>
                <a:sym typeface="Poppins Bold"/>
              </a:rPr>
              <a:t>Polisetty</a:t>
            </a:r>
            <a:r>
              <a:rPr lang="en-US" sz="4045" b="1" dirty="0">
                <a:solidFill>
                  <a:srgbClr val="F4E4C9"/>
                </a:solidFill>
                <a:latin typeface="Poppins Bold"/>
                <a:ea typeface="Poppins Bold"/>
                <a:cs typeface="Poppins Bold"/>
                <a:sym typeface="Poppins Bold"/>
              </a:rPr>
              <a:t> Karthik, N Uday Mahesh Teja                                                                             Supervisor: Dr. Sunita Panda</a:t>
            </a:r>
          </a:p>
        </p:txBody>
      </p:sp>
      <p:sp>
        <p:nvSpPr>
          <p:cNvPr id="49" name="TextBox 49"/>
          <p:cNvSpPr txBox="1"/>
          <p:nvPr/>
        </p:nvSpPr>
        <p:spPr>
          <a:xfrm>
            <a:off x="430002" y="16359662"/>
            <a:ext cx="9902193" cy="17485335"/>
          </a:xfrm>
          <a:prstGeom prst="rect">
            <a:avLst/>
          </a:prstGeom>
        </p:spPr>
        <p:txBody>
          <a:bodyPr wrap="square" lIns="0" tIns="0" rIns="0" bIns="0" rtlCol="0" anchor="t">
            <a:spAutoFit/>
          </a:bodyPr>
          <a:lstStyle/>
          <a:p>
            <a:pPr algn="just">
              <a:lnSpc>
                <a:spcPts val="5400"/>
              </a:lnSpc>
            </a:pPr>
            <a:r>
              <a:rPr lang="en-US" sz="3000" dirty="0">
                <a:solidFill>
                  <a:srgbClr val="000000"/>
                </a:solidFill>
                <a:latin typeface="Poppins"/>
                <a:ea typeface="Poppins"/>
                <a:cs typeface="Poppins"/>
                <a:sym typeface="Poppins"/>
              </a:rPr>
              <a:t>Nuclear power plants rely on sea water intake systems to cool their reactors, which are critical for safe and efficient operation. However, these systems are prone to fouling and damage from marine growth, sediment, and debris, which can lead to reduced cooling efficiency, increased maintenance costs, and safety risks. Traditional inspection and cleaning methods often involve manual operations, which can be hazardous for divers and require plant shutdowns. </a:t>
            </a:r>
          </a:p>
          <a:p>
            <a:pPr marL="514350" indent="-514350" algn="just">
              <a:lnSpc>
                <a:spcPts val="5400"/>
              </a:lnSpc>
              <a:buAutoNum type="arabicPeriod"/>
            </a:pPr>
            <a:r>
              <a:rPr lang="en-US" sz="3000" dirty="0">
                <a:solidFill>
                  <a:srgbClr val="000000"/>
                </a:solidFill>
                <a:latin typeface="Poppins"/>
                <a:ea typeface="Poppins"/>
                <a:cs typeface="Poppins"/>
                <a:sym typeface="Poppins"/>
              </a:rPr>
              <a:t>Importance of Sea Water Intake Systems: Critical for cooling nuclear reactors.</a:t>
            </a:r>
          </a:p>
          <a:p>
            <a:pPr algn="just">
              <a:lnSpc>
                <a:spcPts val="5400"/>
              </a:lnSpc>
            </a:pPr>
            <a:r>
              <a:rPr lang="en-US" sz="3000" dirty="0">
                <a:solidFill>
                  <a:srgbClr val="000000"/>
                </a:solidFill>
                <a:latin typeface="Poppins"/>
                <a:ea typeface="Poppins"/>
                <a:cs typeface="Poppins"/>
                <a:sym typeface="Poppins"/>
              </a:rPr>
              <a:t>2. Challenges with Traditional Methods: Manual inspection and cleaning methods are hazardous, time-consuming, and costly.</a:t>
            </a:r>
          </a:p>
          <a:p>
            <a:pPr algn="just">
              <a:lnSpc>
                <a:spcPts val="5400"/>
              </a:lnSpc>
            </a:pPr>
            <a:r>
              <a:rPr lang="en-US" sz="3000" dirty="0">
                <a:solidFill>
                  <a:srgbClr val="000000"/>
                </a:solidFill>
                <a:latin typeface="Poppins"/>
                <a:ea typeface="Poppins"/>
                <a:cs typeface="Poppins"/>
                <a:sym typeface="Poppins"/>
              </a:rPr>
              <a:t>3. Need for Innovative Solutions: Autonomous Underwater Vehicles (AUVs) can improve safety, efficiency, and effectiveness of inspection and cleaning operations.</a:t>
            </a:r>
          </a:p>
          <a:p>
            <a:pPr algn="just">
              <a:lnSpc>
                <a:spcPts val="5400"/>
              </a:lnSpc>
            </a:pPr>
            <a:r>
              <a:rPr lang="en-US" sz="3000" dirty="0">
                <a:solidFill>
                  <a:srgbClr val="000000"/>
                </a:solidFill>
                <a:latin typeface="Poppins"/>
                <a:ea typeface="Poppins"/>
                <a:cs typeface="Poppins"/>
                <a:sym typeface="Poppins"/>
              </a:rPr>
              <a:t>4. Benefits of AUV Technology: Enhanced safety, reduced downtime, and improved maintenance efficiency.</a:t>
            </a:r>
          </a:p>
          <a:p>
            <a:pPr algn="just">
              <a:lnSpc>
                <a:spcPts val="5400"/>
              </a:lnSpc>
            </a:pPr>
            <a:r>
              <a:rPr lang="en-US" sz="3000" dirty="0">
                <a:solidFill>
                  <a:srgbClr val="000000"/>
                </a:solidFill>
                <a:latin typeface="Poppins"/>
                <a:ea typeface="Poppins"/>
                <a:cs typeface="Poppins"/>
                <a:sym typeface="Poppins"/>
              </a:rPr>
              <a:t>5. Technical Challenges: Navigation, inspection, and cleaning in confined and complex underwater environments.</a:t>
            </a:r>
          </a:p>
        </p:txBody>
      </p:sp>
      <p:sp>
        <p:nvSpPr>
          <p:cNvPr id="50" name="TextBox 50"/>
          <p:cNvSpPr txBox="1"/>
          <p:nvPr/>
        </p:nvSpPr>
        <p:spPr>
          <a:xfrm>
            <a:off x="23069658" y="28046090"/>
            <a:ext cx="8425321" cy="8108758"/>
          </a:xfrm>
          <a:prstGeom prst="rect">
            <a:avLst/>
          </a:prstGeom>
        </p:spPr>
        <p:txBody>
          <a:bodyPr wrap="square" lIns="0" tIns="0" rIns="0" bIns="0" rtlCol="0" anchor="t">
            <a:spAutoFit/>
          </a:bodyPr>
          <a:lstStyle/>
          <a:p>
            <a:pPr algn="just">
              <a:lnSpc>
                <a:spcPts val="4860"/>
              </a:lnSpc>
            </a:pPr>
            <a:r>
              <a:rPr lang="en-US" sz="2700" dirty="0">
                <a:solidFill>
                  <a:srgbClr val="000000"/>
                </a:solidFill>
                <a:latin typeface="Poppins"/>
                <a:ea typeface="Poppins"/>
                <a:cs typeface="Poppins"/>
                <a:sym typeface="Poppins"/>
              </a:rPr>
              <a:t>The development of an Autonomous Underwater Vehicle for sea water intake tunnel inspection and cleaning in nuclear plants offers a promising solution to improve safety, efficiency, and effectiveness of maintenance operations.</a:t>
            </a:r>
          </a:p>
          <a:p>
            <a:pPr algn="just">
              <a:lnSpc>
                <a:spcPts val="4860"/>
              </a:lnSpc>
            </a:pPr>
            <a:r>
              <a:rPr lang="en-US" sz="2700" dirty="0">
                <a:solidFill>
                  <a:srgbClr val="000000"/>
                </a:solidFill>
                <a:latin typeface="Poppins"/>
                <a:ea typeface="Poppins"/>
                <a:cs typeface="Poppins"/>
                <a:sym typeface="Poppins"/>
              </a:rPr>
              <a:t>This project has the potential to reduce the risks associated with manual inspection and cleaning, minimize downtime, and optimize maintenance costs. Successful implementation of this technology can enhance the overall safety and reliability of nuclear power plants, contributing to a more efficient and sustainable energy future.</a:t>
            </a:r>
          </a:p>
        </p:txBody>
      </p:sp>
      <p:sp>
        <p:nvSpPr>
          <p:cNvPr id="51" name="TextBox 51"/>
          <p:cNvSpPr txBox="1"/>
          <p:nvPr/>
        </p:nvSpPr>
        <p:spPr>
          <a:xfrm>
            <a:off x="10763250" y="28102730"/>
            <a:ext cx="11859896" cy="7480381"/>
          </a:xfrm>
          <a:prstGeom prst="rect">
            <a:avLst/>
          </a:prstGeom>
        </p:spPr>
        <p:txBody>
          <a:bodyPr wrap="square" lIns="0" tIns="0" rIns="0" bIns="0" rtlCol="0" anchor="t">
            <a:spAutoFit/>
          </a:bodyPr>
          <a:lstStyle/>
          <a:p>
            <a:pPr marL="805815" lvl="1" indent="-514350" algn="just">
              <a:lnSpc>
                <a:spcPts val="4860"/>
              </a:lnSpc>
              <a:buAutoNum type="arabicPeriod"/>
            </a:pPr>
            <a:r>
              <a:rPr lang="en-US" sz="2700" dirty="0">
                <a:solidFill>
                  <a:srgbClr val="000000"/>
                </a:solidFill>
                <a:latin typeface="Poppins"/>
                <a:ea typeface="Poppins"/>
                <a:cs typeface="Poppins"/>
                <a:sym typeface="Poppins"/>
              </a:rPr>
              <a:t>Advanced Sensor Integration: Integrate advanced sensors for improved inspection and monitoring capabilities.</a:t>
            </a:r>
          </a:p>
          <a:p>
            <a:pPr marL="291465" lvl="1" algn="just">
              <a:lnSpc>
                <a:spcPts val="4860"/>
              </a:lnSpc>
            </a:pPr>
            <a:r>
              <a:rPr lang="en-US" sz="2700" dirty="0">
                <a:solidFill>
                  <a:srgbClr val="000000"/>
                </a:solidFill>
                <a:latin typeface="Poppins"/>
                <a:ea typeface="Poppins"/>
                <a:cs typeface="Poppins"/>
                <a:sym typeface="Poppins"/>
              </a:rPr>
              <a:t>2. Artificial Intelligence and Machine Learning: Develop AI and ML</a:t>
            </a:r>
          </a:p>
          <a:p>
            <a:pPr marL="291465" lvl="1" algn="just">
              <a:lnSpc>
                <a:spcPts val="4860"/>
              </a:lnSpc>
            </a:pPr>
            <a:r>
              <a:rPr lang="en-US" sz="2700" dirty="0">
                <a:solidFill>
                  <a:srgbClr val="000000"/>
                </a:solidFill>
                <a:latin typeface="Poppins"/>
                <a:ea typeface="Poppins"/>
                <a:cs typeface="Poppins"/>
                <a:sym typeface="Poppins"/>
              </a:rPr>
              <a:t>       algorithms for enhanced autonomy, decision-making, and</a:t>
            </a:r>
          </a:p>
          <a:p>
            <a:pPr marL="291465" lvl="1" algn="just">
              <a:lnSpc>
                <a:spcPts val="4860"/>
              </a:lnSpc>
            </a:pPr>
            <a:r>
              <a:rPr lang="en-US" sz="2700" dirty="0">
                <a:solidFill>
                  <a:srgbClr val="000000"/>
                </a:solidFill>
                <a:latin typeface="Poppins"/>
                <a:ea typeface="Poppins"/>
                <a:cs typeface="Poppins"/>
                <a:sym typeface="Poppins"/>
              </a:rPr>
              <a:t>       predictive maintenance.</a:t>
            </a:r>
          </a:p>
          <a:p>
            <a:pPr marL="291465" lvl="1" algn="just">
              <a:lnSpc>
                <a:spcPts val="4860"/>
              </a:lnSpc>
            </a:pPr>
            <a:r>
              <a:rPr lang="en-US" sz="2700" dirty="0">
                <a:solidFill>
                  <a:srgbClr val="000000"/>
                </a:solidFill>
                <a:latin typeface="Poppins"/>
                <a:ea typeface="Poppins"/>
                <a:cs typeface="Poppins"/>
                <a:sym typeface="Poppins"/>
              </a:rPr>
              <a:t>3. Swarm Robotics: Explore the use of multiple AUVs working</a:t>
            </a:r>
          </a:p>
          <a:p>
            <a:pPr marL="291465" lvl="1" algn="just">
              <a:lnSpc>
                <a:spcPts val="4860"/>
              </a:lnSpc>
            </a:pPr>
            <a:r>
              <a:rPr lang="en-US" sz="2700" dirty="0">
                <a:solidFill>
                  <a:srgbClr val="000000"/>
                </a:solidFill>
                <a:latin typeface="Poppins"/>
                <a:ea typeface="Poppins"/>
                <a:cs typeface="Poppins"/>
                <a:sym typeface="Poppins"/>
              </a:rPr>
              <a:t>        together to inspect and clean large areas.</a:t>
            </a:r>
          </a:p>
          <a:p>
            <a:pPr marL="291465" lvl="1" algn="just">
              <a:lnSpc>
                <a:spcPts val="4860"/>
              </a:lnSpc>
            </a:pPr>
            <a:r>
              <a:rPr lang="en-US" sz="2700" dirty="0">
                <a:solidFill>
                  <a:srgbClr val="000000"/>
                </a:solidFill>
                <a:latin typeface="Poppins"/>
                <a:ea typeface="Poppins"/>
                <a:cs typeface="Poppins"/>
                <a:sym typeface="Poppins"/>
              </a:rPr>
              <a:t>4. Integration with Digital Twins: Integrate the AUV with digital twins</a:t>
            </a:r>
          </a:p>
          <a:p>
            <a:pPr marL="291465" lvl="1" algn="just">
              <a:lnSpc>
                <a:spcPts val="4860"/>
              </a:lnSpc>
            </a:pPr>
            <a:r>
              <a:rPr lang="en-US" sz="2700" dirty="0">
                <a:solidFill>
                  <a:srgbClr val="000000"/>
                </a:solidFill>
                <a:latin typeface="Poppins"/>
                <a:ea typeface="Poppins"/>
                <a:cs typeface="Poppins"/>
                <a:sym typeface="Poppins"/>
              </a:rPr>
              <a:t>      of the nuclear plant's infrastructure for improved monitoring</a:t>
            </a:r>
          </a:p>
          <a:p>
            <a:pPr marL="291465" lvl="1" algn="just">
              <a:lnSpc>
                <a:spcPts val="4860"/>
              </a:lnSpc>
            </a:pPr>
            <a:r>
              <a:rPr lang="en-US" sz="2700" dirty="0">
                <a:solidFill>
                  <a:srgbClr val="000000"/>
                </a:solidFill>
                <a:latin typeface="Poppins"/>
                <a:ea typeface="Poppins"/>
                <a:cs typeface="Poppins"/>
                <a:sym typeface="Poppins"/>
              </a:rPr>
              <a:t>       and simulation.</a:t>
            </a:r>
          </a:p>
          <a:p>
            <a:pPr marL="291465" lvl="1" algn="just">
              <a:lnSpc>
                <a:spcPts val="4860"/>
              </a:lnSpc>
            </a:pPr>
            <a:r>
              <a:rPr lang="en-US" sz="2700" dirty="0">
                <a:solidFill>
                  <a:srgbClr val="000000"/>
                </a:solidFill>
                <a:latin typeface="Poppins"/>
                <a:ea typeface="Poppins"/>
                <a:cs typeface="Poppins"/>
                <a:sym typeface="Poppins"/>
              </a:rPr>
              <a:t>5. Expanded Applications: Explore applications in other industries,</a:t>
            </a:r>
          </a:p>
          <a:p>
            <a:pPr marL="291465" lvl="1" algn="just">
              <a:lnSpc>
                <a:spcPts val="4860"/>
              </a:lnSpc>
            </a:pPr>
            <a:r>
              <a:rPr lang="en-US" sz="2700" dirty="0">
                <a:solidFill>
                  <a:srgbClr val="000000"/>
                </a:solidFill>
                <a:latin typeface="Poppins"/>
                <a:ea typeface="Poppins"/>
                <a:cs typeface="Poppins"/>
                <a:sym typeface="Poppins"/>
              </a:rPr>
              <a:t>     such as oil and gas, water treatment, and marine construction.</a:t>
            </a:r>
          </a:p>
        </p:txBody>
      </p:sp>
      <p:sp>
        <p:nvSpPr>
          <p:cNvPr id="52" name="TextBox 52"/>
          <p:cNvSpPr txBox="1"/>
          <p:nvPr/>
        </p:nvSpPr>
        <p:spPr>
          <a:xfrm>
            <a:off x="21747724" y="20155662"/>
            <a:ext cx="11350667" cy="814197"/>
          </a:xfrm>
          <a:prstGeom prst="rect">
            <a:avLst/>
          </a:prstGeom>
        </p:spPr>
        <p:txBody>
          <a:bodyPr lIns="0" tIns="0" rIns="0" bIns="0" rtlCol="0" anchor="t">
            <a:spAutoFit/>
          </a:bodyPr>
          <a:lstStyle/>
          <a:p>
            <a:pPr algn="just">
              <a:lnSpc>
                <a:spcPts val="3146"/>
              </a:lnSpc>
            </a:pPr>
            <a:r>
              <a:rPr lang="en-US" sz="3300" b="1" dirty="0">
                <a:solidFill>
                  <a:srgbClr val="000000"/>
                </a:solidFill>
                <a:latin typeface="Poppins"/>
                <a:ea typeface="Poppins"/>
                <a:cs typeface="Poppins"/>
                <a:sym typeface="Poppins"/>
              </a:rPr>
              <a:t> 3D model of the Project</a:t>
            </a:r>
          </a:p>
          <a:p>
            <a:pPr algn="just">
              <a:lnSpc>
                <a:spcPts val="3146"/>
              </a:lnSpc>
            </a:pPr>
            <a:endParaRPr lang="en-US" sz="3300" b="1" dirty="0">
              <a:solidFill>
                <a:srgbClr val="000000"/>
              </a:solidFill>
              <a:latin typeface="Poppins"/>
              <a:ea typeface="Poppins"/>
              <a:cs typeface="Poppins"/>
              <a:sym typeface="Poppins"/>
            </a:endParaRPr>
          </a:p>
        </p:txBody>
      </p:sp>
      <p:sp>
        <p:nvSpPr>
          <p:cNvPr id="53" name="TextBox 53"/>
          <p:cNvSpPr txBox="1"/>
          <p:nvPr/>
        </p:nvSpPr>
        <p:spPr>
          <a:xfrm>
            <a:off x="11031738" y="4760408"/>
            <a:ext cx="11066262" cy="6436377"/>
          </a:xfrm>
          <a:prstGeom prst="rect">
            <a:avLst/>
          </a:prstGeom>
        </p:spPr>
        <p:txBody>
          <a:bodyPr wrap="square" lIns="0" tIns="0" rIns="0" bIns="0" rtlCol="0" anchor="t">
            <a:spAutoFit/>
          </a:bodyPr>
          <a:lstStyle/>
          <a:p>
            <a:pPr algn="just">
              <a:lnSpc>
                <a:spcPts val="4200"/>
              </a:lnSpc>
            </a:pPr>
            <a:r>
              <a:rPr lang="en-US" sz="3000" dirty="0">
                <a:solidFill>
                  <a:srgbClr val="000000"/>
                </a:solidFill>
                <a:latin typeface="Poppins"/>
                <a:ea typeface="Poppins"/>
                <a:cs typeface="Poppins"/>
                <a:sym typeface="Poppins"/>
              </a:rPr>
              <a:t>The methodology for the Autonomous Underwater Vehicle project involves designing and developing an AUV system that can inspect and clean sea water intake tunnels in nuclear plants. The approach includes: </a:t>
            </a:r>
          </a:p>
          <a:p>
            <a:pPr algn="just">
              <a:lnSpc>
                <a:spcPts val="4200"/>
              </a:lnSpc>
            </a:pPr>
            <a:r>
              <a:rPr lang="en-US" sz="3000" dirty="0">
                <a:solidFill>
                  <a:srgbClr val="000000"/>
                </a:solidFill>
                <a:latin typeface="Poppins"/>
                <a:ea typeface="Poppins"/>
                <a:cs typeface="Poppins"/>
                <a:sym typeface="Poppins"/>
              </a:rPr>
              <a:t>1. System design and development </a:t>
            </a:r>
          </a:p>
          <a:p>
            <a:pPr algn="just">
              <a:lnSpc>
                <a:spcPts val="4200"/>
              </a:lnSpc>
            </a:pPr>
            <a:r>
              <a:rPr lang="en-US" sz="3000" dirty="0">
                <a:solidFill>
                  <a:srgbClr val="000000"/>
                </a:solidFill>
                <a:latin typeface="Poppins"/>
                <a:ea typeface="Poppins"/>
                <a:cs typeface="Poppins"/>
                <a:sym typeface="Poppins"/>
              </a:rPr>
              <a:t>2. Sensor integration for navigation and inspection </a:t>
            </a:r>
          </a:p>
          <a:p>
            <a:pPr algn="just">
              <a:lnSpc>
                <a:spcPts val="4200"/>
              </a:lnSpc>
            </a:pPr>
            <a:r>
              <a:rPr lang="en-US" sz="3000" dirty="0">
                <a:solidFill>
                  <a:srgbClr val="000000"/>
                </a:solidFill>
                <a:latin typeface="Poppins"/>
                <a:ea typeface="Poppins"/>
                <a:cs typeface="Poppins"/>
                <a:sym typeface="Poppins"/>
              </a:rPr>
              <a:t>3. Control system development for autonomous</a:t>
            </a:r>
          </a:p>
          <a:p>
            <a:pPr algn="just">
              <a:lnSpc>
                <a:spcPts val="4200"/>
              </a:lnSpc>
            </a:pPr>
            <a:r>
              <a:rPr lang="en-US" sz="3000">
                <a:solidFill>
                  <a:srgbClr val="000000"/>
                </a:solidFill>
                <a:latin typeface="Poppins"/>
                <a:ea typeface="Poppins"/>
                <a:cs typeface="Poppins"/>
                <a:sym typeface="Poppins"/>
              </a:rPr>
              <a:t>   </a:t>
            </a:r>
            <a:r>
              <a:rPr lang="en-US" sz="3000" dirty="0">
                <a:solidFill>
                  <a:srgbClr val="000000"/>
                </a:solidFill>
                <a:latin typeface="Poppins"/>
                <a:ea typeface="Poppins"/>
                <a:cs typeface="Poppins"/>
                <a:sym typeface="Poppins"/>
              </a:rPr>
              <a:t>operation</a:t>
            </a:r>
          </a:p>
          <a:p>
            <a:pPr algn="just">
              <a:lnSpc>
                <a:spcPts val="4200"/>
              </a:lnSpc>
            </a:pPr>
            <a:r>
              <a:rPr lang="en-US" sz="3000" dirty="0">
                <a:solidFill>
                  <a:srgbClr val="000000"/>
                </a:solidFill>
                <a:latin typeface="Poppins"/>
                <a:ea typeface="Poppins"/>
                <a:cs typeface="Poppins"/>
                <a:sym typeface="Poppins"/>
              </a:rPr>
              <a:t>4. Cleaning system design and development</a:t>
            </a:r>
          </a:p>
          <a:p>
            <a:pPr algn="just">
              <a:lnSpc>
                <a:spcPts val="4200"/>
              </a:lnSpc>
            </a:pPr>
            <a:r>
              <a:rPr lang="en-US" sz="3000" dirty="0">
                <a:solidFill>
                  <a:srgbClr val="000000"/>
                </a:solidFill>
                <a:latin typeface="Poppins"/>
                <a:ea typeface="Poppins"/>
                <a:cs typeface="Poppins"/>
                <a:sym typeface="Poppins"/>
              </a:rPr>
              <a:t>The project aims to improve safety, efficiency, and effectiveness of inspection and cleaning operations in nuclear plants.</a:t>
            </a:r>
          </a:p>
        </p:txBody>
      </p:sp>
      <p:sp>
        <p:nvSpPr>
          <p:cNvPr id="54" name="TextBox 54"/>
          <p:cNvSpPr txBox="1"/>
          <p:nvPr/>
        </p:nvSpPr>
        <p:spPr>
          <a:xfrm>
            <a:off x="430002" y="4508865"/>
            <a:ext cx="10009942" cy="10618291"/>
          </a:xfrm>
          <a:prstGeom prst="rect">
            <a:avLst/>
          </a:prstGeom>
        </p:spPr>
        <p:txBody>
          <a:bodyPr wrap="square" lIns="0" tIns="0" rIns="0" bIns="0" rtlCol="0" anchor="t">
            <a:spAutoFit/>
          </a:bodyPr>
          <a:lstStyle/>
          <a:p>
            <a:pPr algn="just">
              <a:lnSpc>
                <a:spcPts val="3600"/>
              </a:lnSpc>
              <a:spcBef>
                <a:spcPct val="0"/>
              </a:spcBef>
            </a:pPr>
            <a:r>
              <a:rPr lang="en-US" sz="3000" dirty="0">
                <a:solidFill>
                  <a:srgbClr val="000000"/>
                </a:solidFill>
                <a:latin typeface="Poppins"/>
                <a:ea typeface="Poppins"/>
                <a:cs typeface="Poppins"/>
                <a:sym typeface="Poppins"/>
              </a:rPr>
              <a:t>Nuclear power plants rely on seawater intake systems to cool their reactors and other equipment. These systems are critical to the safe and efficient operation of the plant. However, the seawater intake tunnels can become clogged with debris, sedimentation, and other obstructions, which can reduce the efficiency of the cooling system and potentially lead to safety issues. Traditional inspection and cleaning methods can be time-consuming, expensive, and pose risks to human divers The AUV will be equipped with advanced sensors, navigation systems, and cleaning mechanisms, enabling it to navigate through the tunnels, detect debris and sedimentation, and perform cleaning operations. By developing an AUV specifically designed for seawater intake tunnel inspection and cleaning, this project aims to improve the safety, efficiency, and reliability of nuclear plant operations. The AUV will help to ensure the optimal flow of cooling water, reduce maintenance costs, and minimize the risk of accidents or injuries.</a:t>
            </a:r>
          </a:p>
          <a:p>
            <a:pPr algn="just">
              <a:lnSpc>
                <a:spcPts val="3600"/>
              </a:lnSpc>
              <a:spcBef>
                <a:spcPct val="0"/>
              </a:spcBef>
            </a:pPr>
            <a:r>
              <a:rPr lang="en-US" sz="3000" dirty="0">
                <a:solidFill>
                  <a:srgbClr val="000000"/>
                </a:solidFill>
                <a:latin typeface="Poppins"/>
                <a:ea typeface="Poppins"/>
                <a:cs typeface="Poppins"/>
                <a:sym typeface="Poppins"/>
              </a:rPr>
              <a:t> </a:t>
            </a:r>
          </a:p>
        </p:txBody>
      </p:sp>
      <p:sp>
        <p:nvSpPr>
          <p:cNvPr id="58" name="TextBox 58"/>
          <p:cNvSpPr txBox="1"/>
          <p:nvPr/>
        </p:nvSpPr>
        <p:spPr>
          <a:xfrm>
            <a:off x="11566323" y="12837498"/>
            <a:ext cx="5522228" cy="560923"/>
          </a:xfrm>
          <a:prstGeom prst="rect">
            <a:avLst/>
          </a:prstGeom>
        </p:spPr>
        <p:txBody>
          <a:bodyPr lIns="0" tIns="0" rIns="0" bIns="0" rtlCol="0" anchor="t">
            <a:spAutoFit/>
          </a:bodyPr>
          <a:lstStyle/>
          <a:p>
            <a:pPr algn="just">
              <a:lnSpc>
                <a:spcPts val="4620"/>
              </a:lnSpc>
            </a:pPr>
            <a:r>
              <a:rPr lang="en-US" sz="3300" b="1" dirty="0">
                <a:solidFill>
                  <a:srgbClr val="000000"/>
                </a:solidFill>
                <a:latin typeface="Poppins Bold"/>
                <a:ea typeface="Poppins Bold"/>
                <a:cs typeface="Poppins Bold"/>
                <a:sym typeface="Poppins Bold"/>
              </a:rPr>
              <a:t>3D Visualization</a:t>
            </a:r>
          </a:p>
        </p:txBody>
      </p:sp>
      <p:pic>
        <p:nvPicPr>
          <p:cNvPr id="62" name="Picture 61">
            <a:extLst>
              <a:ext uri="{FF2B5EF4-FFF2-40B4-BE49-F238E27FC236}">
                <a16:creationId xmlns:a16="http://schemas.microsoft.com/office/drawing/2014/main" id="{D0773A6C-8A81-42C8-E21A-777978A88403}"/>
              </a:ext>
            </a:extLst>
          </p:cNvPr>
          <p:cNvPicPr>
            <a:picLocks noChangeAspect="1"/>
          </p:cNvPicPr>
          <p:nvPr/>
        </p:nvPicPr>
        <p:blipFill>
          <a:blip r:embed="rId4"/>
          <a:stretch>
            <a:fillRect/>
          </a:stretch>
        </p:blipFill>
        <p:spPr>
          <a:xfrm>
            <a:off x="22305884" y="3907754"/>
            <a:ext cx="9258168" cy="7289031"/>
          </a:xfrm>
          <a:prstGeom prst="rect">
            <a:avLst/>
          </a:prstGeom>
        </p:spPr>
      </p:pic>
      <p:pic>
        <p:nvPicPr>
          <p:cNvPr id="64" name="Picture 63">
            <a:extLst>
              <a:ext uri="{FF2B5EF4-FFF2-40B4-BE49-F238E27FC236}">
                <a16:creationId xmlns:a16="http://schemas.microsoft.com/office/drawing/2014/main" id="{534ED3DA-07DA-186C-19EC-2208DF7DFF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51175" y="13541597"/>
            <a:ext cx="10117985" cy="12811854"/>
          </a:xfrm>
          <a:prstGeom prst="rect">
            <a:avLst/>
          </a:prstGeom>
        </p:spPr>
      </p:pic>
      <p:pic>
        <p:nvPicPr>
          <p:cNvPr id="66" name="Picture 65">
            <a:extLst>
              <a:ext uri="{FF2B5EF4-FFF2-40B4-BE49-F238E27FC236}">
                <a16:creationId xmlns:a16="http://schemas.microsoft.com/office/drawing/2014/main" id="{6C960779-2BDC-111D-4ED2-8D33ABA1A8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492207" y="20668812"/>
            <a:ext cx="10002772" cy="5752765"/>
          </a:xfrm>
          <a:prstGeom prst="rect">
            <a:avLst/>
          </a:prstGeom>
        </p:spPr>
      </p:pic>
      <p:pic>
        <p:nvPicPr>
          <p:cNvPr id="67" name="Picture 2" descr="Schematic view of a cooling water system of a power station (Madras Atomic Power Station, Kalpakkam, located on the east coast of India). TWS travelling water screens, PSWHX process seawater heat exchangers, MSL mean sea level 468 m TUNNEL  ">
            <a:extLst>
              <a:ext uri="{FF2B5EF4-FFF2-40B4-BE49-F238E27FC236}">
                <a16:creationId xmlns:a16="http://schemas.microsoft.com/office/drawing/2014/main" id="{D466D3ED-7B36-B22E-211B-4185B871C0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44147" y="13562515"/>
            <a:ext cx="10229851" cy="6114124"/>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a:extLst>
              <a:ext uri="{FF2B5EF4-FFF2-40B4-BE49-F238E27FC236}">
                <a16:creationId xmlns:a16="http://schemas.microsoft.com/office/drawing/2014/main" id="{BAB7D894-2338-4047-E1D5-1DE732BF8849}"/>
              </a:ext>
            </a:extLst>
          </p:cNvPr>
          <p:cNvSpPr txBox="1"/>
          <p:nvPr/>
        </p:nvSpPr>
        <p:spPr>
          <a:xfrm>
            <a:off x="21945600" y="12814542"/>
            <a:ext cx="8305801" cy="600164"/>
          </a:xfrm>
          <a:prstGeom prst="rect">
            <a:avLst/>
          </a:prstGeom>
          <a:noFill/>
        </p:spPr>
        <p:txBody>
          <a:bodyPr wrap="square" rtlCol="0">
            <a:spAutoFit/>
          </a:bodyPr>
          <a:lstStyle/>
          <a:p>
            <a:r>
              <a:rPr lang="en-US" sz="3300" b="1" dirty="0">
                <a:latin typeface="Poppins Bold" panose="00000800000000000000" charset="0"/>
                <a:cs typeface="Poppins Bold" panose="00000800000000000000" charset="0"/>
              </a:rPr>
              <a:t>Mapping of sea water intake tunnel</a:t>
            </a:r>
            <a:endParaRPr lang="en-IN" sz="3300" b="1" dirty="0">
              <a:latin typeface="Poppins Bold" panose="00000800000000000000" charset="0"/>
              <a:cs typeface="Poppins Bold" panose="00000800000000000000"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700</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Poppins</vt:lpstr>
      <vt:lpstr>Poppins Bold</vt:lpstr>
      <vt:lpstr>Calibri</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Poster_Template_UG_students.pptx</dc:title>
  <dc:creator>POLISETTY KARTHIK</dc:creator>
  <cp:lastModifiedBy>POLISETTY KARTHIK</cp:lastModifiedBy>
  <cp:revision>2</cp:revision>
  <dcterms:created xsi:type="dcterms:W3CDTF">2006-08-16T00:00:00Z</dcterms:created>
  <dcterms:modified xsi:type="dcterms:W3CDTF">2025-11-18T13:09:12Z</dcterms:modified>
  <dc:identifier>DAG3QDnRjEc</dc:identifier>
</cp:coreProperties>
</file>