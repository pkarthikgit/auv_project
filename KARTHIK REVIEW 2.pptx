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0"/>
  </p:notesMasterIdLst>
  <p:handoutMasterIdLst>
    <p:handoutMasterId r:id="rId21"/>
  </p:handoutMasterIdLst>
  <p:sldIdLst>
    <p:sldId id="531" r:id="rId2"/>
    <p:sldId id="289" r:id="rId3"/>
    <p:sldId id="292" r:id="rId4"/>
    <p:sldId id="536" r:id="rId5"/>
    <p:sldId id="298" r:id="rId6"/>
    <p:sldId id="535" r:id="rId7"/>
    <p:sldId id="294" r:id="rId8"/>
    <p:sldId id="534" r:id="rId9"/>
    <p:sldId id="533" r:id="rId10"/>
    <p:sldId id="532" r:id="rId11"/>
    <p:sldId id="537" r:id="rId12"/>
    <p:sldId id="538" r:id="rId13"/>
    <p:sldId id="539" r:id="rId14"/>
    <p:sldId id="540" r:id="rId15"/>
    <p:sldId id="541" r:id="rId16"/>
    <p:sldId id="542" r:id="rId17"/>
    <p:sldId id="307" r:id="rId18"/>
    <p:sldId id="301" r:id="rId19"/>
  </p:sldIdLst>
  <p:sldSz cx="12192000" cy="6858000"/>
  <p:notesSz cx="6858000" cy="9144000"/>
  <p:embeddedFontLst>
    <p:embeddedFont>
      <p:font typeface="Aharoni" panose="02010803020104030203" pitchFamily="2" charset="-79"/>
      <p:bold r:id="rId22"/>
    </p:embeddedFont>
    <p:embeddedFont>
      <p:font typeface="Montserrat" panose="00000500000000000000" pitchFamily="2" charset="0"/>
      <p:regular r:id="rId23"/>
      <p:bold r:id="rId24"/>
      <p:italic r:id="rId25"/>
      <p:boldItalic r:id="rId26"/>
    </p:embeddedFont>
    <p:embeddedFont>
      <p:font typeface="Montserrat Medium" panose="00000600000000000000" pitchFamily="2" charset="0"/>
      <p:regular r:id="rId27"/>
      <p:italic r:id="rId28"/>
    </p:embeddedFont>
    <p:embeddedFont>
      <p:font typeface="Open Sans" panose="020B0606030504020204" pitchFamily="34" charset="0"/>
      <p:regular r:id="rId29"/>
      <p:bold r:id="rId30"/>
      <p:italic r:id="rId31"/>
      <p:boldItalic r:id="rId32"/>
    </p:embeddedFont>
    <p:embeddedFont>
      <p:font typeface="Plus Jakarta Sans" panose="020B0604020202020204" charset="0"/>
      <p:regular r:id="rId33"/>
      <p:bold r:id="rId34"/>
      <p:italic r:id="rId35"/>
      <p:boldItalic r:id="rId36"/>
    </p:embeddedFont>
    <p:embeddedFont>
      <p:font typeface="Verdana" panose="020B0604030504040204" pitchFamily="34" charset="0"/>
      <p:regular r:id="rId37"/>
      <p:bold r:id="rId38"/>
      <p:italic r:id="rId39"/>
      <p:boldItalic r:id="rId40"/>
    </p:embeddedFont>
  </p:embeddedFontLst>
  <p:custDataLst>
    <p:tags r:id="rId41"/>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BED2CF-DD4C-4F7E-896F-0B099D31E7F9}" v="1" dt="2025-11-20T17:46:25.955"/>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handoutMaster" Target="handoutMasters/handoutMaster1.xml"/><Relationship Id="rId34" Type="http://schemas.openxmlformats.org/officeDocument/2006/relationships/font" Target="fonts/font13.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notesMaster" Target="notesMasters/notesMaster1.xml"/><Relationship Id="rId41" Type="http://schemas.openxmlformats.org/officeDocument/2006/relationships/tags" Target="tags/tag1.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LISETTY KARTHIK" userId="5f32fbb399e81ea2" providerId="LiveId" clId="{7F1A5EF6-F9DA-4FC1-8C1E-6084272B4261}"/>
    <pc:docChg chg="custSel modSld">
      <pc:chgData name="POLISETTY KARTHIK" userId="5f32fbb399e81ea2" providerId="LiveId" clId="{7F1A5EF6-F9DA-4FC1-8C1E-6084272B4261}" dt="2025-11-20T17:46:35.755" v="8" actId="14100"/>
      <pc:docMkLst>
        <pc:docMk/>
      </pc:docMkLst>
      <pc:sldChg chg="modSp mod">
        <pc:chgData name="POLISETTY KARTHIK" userId="5f32fbb399e81ea2" providerId="LiveId" clId="{7F1A5EF6-F9DA-4FC1-8C1E-6084272B4261}" dt="2025-11-20T16:39:45.706" v="2" actId="20577"/>
        <pc:sldMkLst>
          <pc:docMk/>
          <pc:sldMk cId="1429641473" sldId="289"/>
        </pc:sldMkLst>
        <pc:spChg chg="mod">
          <ac:chgData name="POLISETTY KARTHIK" userId="5f32fbb399e81ea2" providerId="LiveId" clId="{7F1A5EF6-F9DA-4FC1-8C1E-6084272B4261}" dt="2025-11-20T16:39:45.706" v="2" actId="20577"/>
          <ac:spMkLst>
            <pc:docMk/>
            <pc:sldMk cId="1429641473" sldId="289"/>
            <ac:spMk id="3" creationId="{CA08A1E2-29B3-F3D5-48A9-5D1EA6629717}"/>
          </ac:spMkLst>
        </pc:spChg>
      </pc:sldChg>
      <pc:sldChg chg="addSp delSp modSp mod">
        <pc:chgData name="POLISETTY KARTHIK" userId="5f32fbb399e81ea2" providerId="LiveId" clId="{7F1A5EF6-F9DA-4FC1-8C1E-6084272B4261}" dt="2025-11-20T17:46:35.755" v="8" actId="14100"/>
        <pc:sldMkLst>
          <pc:docMk/>
          <pc:sldMk cId="3316315554" sldId="292"/>
        </pc:sldMkLst>
        <pc:picChg chg="del mod">
          <ac:chgData name="POLISETTY KARTHIK" userId="5f32fbb399e81ea2" providerId="LiveId" clId="{7F1A5EF6-F9DA-4FC1-8C1E-6084272B4261}" dt="2025-11-20T17:46:25.068" v="4" actId="478"/>
          <ac:picMkLst>
            <pc:docMk/>
            <pc:sldMk cId="3316315554" sldId="292"/>
            <ac:picMk id="4" creationId="{E77B24D4-E9C3-BCCC-023B-E378A12BCDC8}"/>
          </ac:picMkLst>
        </pc:picChg>
        <pc:picChg chg="add mod">
          <ac:chgData name="POLISETTY KARTHIK" userId="5f32fbb399e81ea2" providerId="LiveId" clId="{7F1A5EF6-F9DA-4FC1-8C1E-6084272B4261}" dt="2025-11-20T17:46:35.755" v="8" actId="14100"/>
          <ac:picMkLst>
            <pc:docMk/>
            <pc:sldMk cId="3316315554" sldId="292"/>
            <ac:picMk id="6" creationId="{A02998C7-55B6-5FDE-58EA-217DEBEF3448}"/>
          </ac:picMkLst>
        </pc:picChg>
      </pc:sldChg>
      <pc:sldChg chg="modSp mod">
        <pc:chgData name="POLISETTY KARTHIK" userId="5f32fbb399e81ea2" providerId="LiveId" clId="{7F1A5EF6-F9DA-4FC1-8C1E-6084272B4261}" dt="2025-11-20T16:39:16.704" v="1" actId="20577"/>
        <pc:sldMkLst>
          <pc:docMk/>
          <pc:sldMk cId="2901330264" sldId="531"/>
        </pc:sldMkLst>
        <pc:spChg chg="mod">
          <ac:chgData name="POLISETTY KARTHIK" userId="5f32fbb399e81ea2" providerId="LiveId" clId="{7F1A5EF6-F9DA-4FC1-8C1E-6084272B4261}" dt="2025-11-20T16:39:16.704" v="1" actId="20577"/>
          <ac:spMkLst>
            <pc:docMk/>
            <pc:sldMk cId="2901330264" sldId="531"/>
            <ac:spMk id="23" creationId="{D8F66EB9-9CBE-8ACD-E616-93A5AE55CF5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20-11-2025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Plus Jakarta Sans"/>
                <a:ea typeface="Plus Jakarta Sans"/>
                <a:cs typeface="Plus Jakarta Sans"/>
                <a:sym typeface="Plus Jakarta Sans"/>
              </a:rPr>
              <a:t>1</a:t>
            </a:fld>
            <a:endParaRPr lang="en-US" sz="1200" b="0" i="0" u="none" strike="noStrike" cap="none">
              <a:solidFill>
                <a:schemeClr val="dk1"/>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338105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426695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extLst>
      <p:ext uri="{BB962C8B-B14F-4D97-AF65-F5344CB8AC3E}">
        <p14:creationId xmlns:p14="http://schemas.microsoft.com/office/powerpoint/2010/main" val="3740679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txBody>
          <a:bodyPr/>
          <a:lstStyle/>
          <a:p>
            <a:endParaRPr lang="en-US"/>
          </a:p>
        </p:txBody>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txBody>
          <a:bodyPr/>
          <a:lstStyle/>
          <a:p>
            <a:endParaRPr lang="en-US"/>
          </a:p>
        </p:txBody>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0">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7" r:id="rId3"/>
    <p:sldLayoutId id="2147483658" r:id="rId4"/>
    <p:sldLayoutId id="2147483659" r:id="rId5"/>
    <p:sldLayoutId id="2147483660" r:id="rId6"/>
    <p:sldLayoutId id="2147483661" r:id="rId7"/>
    <p:sldLayoutId id="214748367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3">
            <a:alphaModFix amt="20000"/>
          </a:blip>
          <a:srcRect l="1514" r="2310" b="19493"/>
          <a:stretch/>
        </p:blipFill>
        <p:spPr>
          <a:xfrm>
            <a:off x="-1235" y="7409"/>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Polisetty Karthik</a:t>
            </a:r>
            <a:endParaRPr lang="en-US" sz="1400" b="1" i="0" u="none" strike="noStrike" cap="none" dirty="0">
              <a:solidFill>
                <a:schemeClr val="dk1"/>
              </a:solidFill>
              <a:latin typeface="Montserrat Medium"/>
              <a:ea typeface="Arial"/>
              <a:cs typeface="Arial"/>
              <a:sym typeface="Montserrat Medium"/>
            </a:endParaRPr>
          </a:p>
          <a:p>
            <a:pPr marL="285750" indent="-285750">
              <a:buSzPts val="1400"/>
              <a:buFont typeface="Arial" panose="020B0604020202020204" pitchFamily="34" charset="0"/>
              <a:buChar char="•"/>
            </a:pPr>
            <a:r>
              <a:rPr lang="en-US" b="1" dirty="0">
                <a:solidFill>
                  <a:schemeClr val="dk1"/>
                </a:solidFill>
                <a:latin typeface="Montserrat Medium"/>
                <a:sym typeface="Montserrat Medium"/>
              </a:rPr>
              <a:t>N Uday Mahesh Teja</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R="0" lvl="0" algn="ctr" rtl="0">
              <a:lnSpc>
                <a:spcPct val="100000"/>
              </a:lnSpc>
              <a:spcBef>
                <a:spcPts val="0"/>
              </a:spcBef>
              <a:spcAft>
                <a:spcPts val="0"/>
              </a:spcAft>
              <a:buClr>
                <a:srgbClr val="000000"/>
              </a:buClr>
              <a:buSzPts val="1400"/>
            </a:pPr>
            <a:r>
              <a:rPr lang="en-US" b="1" dirty="0">
                <a:solidFill>
                  <a:schemeClr val="dk1"/>
                </a:solidFill>
                <a:latin typeface="Montserrat Medium"/>
                <a:sym typeface="Montserrat Medium"/>
              </a:rPr>
              <a:t>Dr. Sunita Panda</a:t>
            </a:r>
            <a:endParaRPr lang="en-US" sz="1400" b="1" i="0" u="none" strike="noStrike" cap="none" dirty="0">
              <a:solidFill>
                <a:schemeClr val="dk1"/>
              </a:solidFill>
              <a:latin typeface="Montserrat Medium"/>
              <a:ea typeface="Arial"/>
              <a:cs typeface="Arial"/>
              <a:sym typeface="Montserrat Medium"/>
            </a:endParaRP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XXX </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4">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22637" y="264014"/>
            <a:ext cx="10384403" cy="954067"/>
          </a:xfrm>
          <a:prstGeom prst="rect">
            <a:avLst/>
          </a:prstGeom>
          <a:noFill/>
          <a:ln>
            <a:noFill/>
          </a:ln>
        </p:spPr>
        <p:txBody>
          <a:bodyPr spcFirstLastPara="1" wrap="square" lIns="91425" tIns="45700" rIns="91425" bIns="45700" anchor="t" anchorCtr="0">
            <a:spAutoFit/>
          </a:bodyPr>
          <a:lstStyle/>
          <a:p>
            <a:r>
              <a:rPr lang="en-US" sz="2800" b="1" dirty="0"/>
              <a:t>         Autonomous underwater vehicle for sea water intake </a:t>
            </a:r>
          </a:p>
          <a:p>
            <a:r>
              <a:rPr lang="en-US" sz="2800" b="1" dirty="0"/>
              <a:t>            tunnel inspection and cleaning for nuclear plant</a:t>
            </a:r>
            <a:endParaRPr lang="en-IN" sz="2800" b="1" dirty="0"/>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Review-2</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Objectives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104399"/>
            <a:ext cx="10457706" cy="2462213"/>
          </a:xfrm>
          <a:prstGeom prst="rect">
            <a:avLst/>
          </a:prstGeom>
          <a:noFill/>
        </p:spPr>
        <p:txBody>
          <a:bodyPr wrap="square" rtlCol="0">
            <a:spAutoFit/>
          </a:bodyPr>
          <a:lstStyle/>
          <a:p>
            <a:r>
              <a:rPr lang="en-US" dirty="0"/>
              <a:t>• Inspect seawater intake tunnels: Use sensors and cameras to detect debris,</a:t>
            </a:r>
          </a:p>
          <a:p>
            <a:r>
              <a:rPr lang="en-US" dirty="0"/>
              <a:t>   sedimentation, or other issues that may affect the tunnel's functionality.</a:t>
            </a:r>
          </a:p>
          <a:p>
            <a:r>
              <a:rPr lang="en-US" dirty="0"/>
              <a:t>• Clean seawater intake tunnels: Utilize cleaning mechanisms or tools to remove debris </a:t>
            </a:r>
          </a:p>
          <a:p>
            <a:r>
              <a:rPr lang="en-US" dirty="0"/>
              <a:t>   and sedimentation, ensuring optimal water flow.</a:t>
            </a:r>
          </a:p>
          <a:p>
            <a:r>
              <a:rPr lang="en-US" dirty="0"/>
              <a:t>• Navigate through tunnels: Develop navigation algorithms and control systems to</a:t>
            </a:r>
          </a:p>
          <a:p>
            <a:r>
              <a:rPr lang="en-US" dirty="0"/>
              <a:t>   enable the AUV to maneuver through the tunnels efficiently.</a:t>
            </a:r>
          </a:p>
          <a:p>
            <a:r>
              <a:rPr lang="en-US" dirty="0"/>
              <a:t>• Collect data: Gather data on water quality, flow rates, and tunnel conditions using</a:t>
            </a:r>
          </a:p>
          <a:p>
            <a:r>
              <a:rPr lang="en-US" dirty="0"/>
              <a:t>    various sensors, such as temperature, pH, and pressure sensors.</a:t>
            </a:r>
          </a:p>
          <a:p>
            <a:r>
              <a:rPr lang="en-US" dirty="0"/>
              <a:t>• Autonomous operation: Autonomous control and navigation, minimizing human</a:t>
            </a:r>
          </a:p>
          <a:p>
            <a:r>
              <a:rPr lang="en-US" dirty="0"/>
              <a:t>    intervention.</a:t>
            </a:r>
            <a:endParaRPr lang="en-IN" dirty="0"/>
          </a:p>
          <a:p>
            <a:pPr marL="285750" indent="-285750">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14942" y="3860497"/>
            <a:ext cx="9943179" cy="1384995"/>
          </a:xfrm>
          <a:prstGeom prst="rect">
            <a:avLst/>
          </a:prstGeom>
          <a:noFill/>
        </p:spPr>
        <p:txBody>
          <a:bodyPr wrap="square" rtlCol="0">
            <a:spAutoFit/>
          </a:bodyPr>
          <a:lstStyle/>
          <a:p>
            <a:r>
              <a:rPr lang="en-US"/>
              <a:t>• Robust Communication: Establish reliable communication systems to transmit</a:t>
            </a:r>
          </a:p>
          <a:p>
            <a:r>
              <a:rPr lang="en-US"/>
              <a:t>   data and control commands between the AUV and the surface.</a:t>
            </a:r>
          </a:p>
          <a:p>
            <a:r>
              <a:rPr lang="en-US"/>
              <a:t>• Reduced Downtime: Minimize downtime and maintenance costs by automating</a:t>
            </a:r>
          </a:p>
          <a:p>
            <a:r>
              <a:rPr lang="en-US"/>
              <a:t>   inspection and cleaning tasks.</a:t>
            </a:r>
          </a:p>
          <a:p>
            <a:r>
              <a:rPr lang="en-US"/>
              <a:t>• Reliable Inspection: Conduct thorough inspections of seawater intake tunnels to</a:t>
            </a:r>
          </a:p>
          <a:p>
            <a:r>
              <a:rPr lang="en-US"/>
              <a:t>   detect potential issues, such as debris, sedimentation, or damage</a:t>
            </a:r>
            <a:endParaRPr lang="en-US" dirty="0"/>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452283" y="1558456"/>
            <a:ext cx="11326761" cy="50488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753634" y="250707"/>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 </a:t>
            </a:r>
            <a:endParaRPr dirty="0"/>
          </a:p>
        </p:txBody>
      </p:sp>
      <p:pic>
        <p:nvPicPr>
          <p:cNvPr id="6" name="Picture 5">
            <a:extLst>
              <a:ext uri="{FF2B5EF4-FFF2-40B4-BE49-F238E27FC236}">
                <a16:creationId xmlns:a16="http://schemas.microsoft.com/office/drawing/2014/main" id="{A02998C7-55B6-5FDE-58EA-217DEBEF3448}"/>
              </a:ext>
            </a:extLst>
          </p:cNvPr>
          <p:cNvPicPr>
            <a:picLocks noChangeAspect="1"/>
          </p:cNvPicPr>
          <p:nvPr/>
        </p:nvPicPr>
        <p:blipFill>
          <a:blip r:embed="rId3"/>
          <a:stretch>
            <a:fillRect/>
          </a:stretch>
        </p:blipFill>
        <p:spPr>
          <a:xfrm>
            <a:off x="922766" y="634585"/>
            <a:ext cx="9613183" cy="5461415"/>
          </a:xfrm>
          <a:prstGeom prst="rect">
            <a:avLst/>
          </a:prstGeom>
        </p:spPr>
      </p:pic>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chematic view of a cooling water system of a power station (Madras Atomic Power Station, Kalpakkam, located on the east coast of India). TWS travelling water screens, PSWHX process seawater heat exchangers, MSL mean sea level 468 m TUNNEL  ">
            <a:extLst>
              <a:ext uri="{FF2B5EF4-FFF2-40B4-BE49-F238E27FC236}">
                <a16:creationId xmlns:a16="http://schemas.microsoft.com/office/drawing/2014/main" id="{90B65642-E063-541E-5ECB-BE98ADAE9A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121" y="572757"/>
            <a:ext cx="11285242" cy="4815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31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513734" y="230489"/>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Structural Diagram</a:t>
            </a:r>
          </a:p>
          <a:p>
            <a:pPr marL="0" marR="0" lvl="0" indent="0" rtl="0">
              <a:lnSpc>
                <a:spcPct val="100000"/>
              </a:lnSpc>
              <a:spcBef>
                <a:spcPts val="0"/>
              </a:spcBef>
              <a:spcAft>
                <a:spcPts val="0"/>
              </a:spcAft>
              <a:buNone/>
            </a:pPr>
            <a:r>
              <a:rPr lang="en-IN" sz="1200" dirty="0">
                <a:latin typeface="Verdana" panose="020B0604030504040204" pitchFamily="34" charset="0"/>
                <a:ea typeface="Verdana" panose="020B0604030504040204" pitchFamily="34" charset="0"/>
              </a:rPr>
              <a:t>Block Diagram :</a:t>
            </a: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pic>
        <p:nvPicPr>
          <p:cNvPr id="10" name="Picture 9">
            <a:extLst>
              <a:ext uri="{FF2B5EF4-FFF2-40B4-BE49-F238E27FC236}">
                <a16:creationId xmlns:a16="http://schemas.microsoft.com/office/drawing/2014/main" id="{30AF49D7-98FF-A9AF-D195-D2A7AA6004F7}"/>
              </a:ext>
            </a:extLst>
          </p:cNvPr>
          <p:cNvPicPr>
            <a:picLocks noChangeAspect="1"/>
          </p:cNvPicPr>
          <p:nvPr/>
        </p:nvPicPr>
        <p:blipFill>
          <a:blip r:embed="rId2"/>
          <a:stretch>
            <a:fillRect/>
          </a:stretch>
        </p:blipFill>
        <p:spPr>
          <a:xfrm>
            <a:off x="-1" y="1381787"/>
            <a:ext cx="11739717" cy="4776945"/>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834E08-0B4E-17E2-787A-969B4CCFD0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TextBox 3">
            <a:extLst>
              <a:ext uri="{FF2B5EF4-FFF2-40B4-BE49-F238E27FC236}">
                <a16:creationId xmlns:a16="http://schemas.microsoft.com/office/drawing/2014/main" id="{2B3E1B65-4970-ABF2-CAF1-A5BE34A07703}"/>
              </a:ext>
            </a:extLst>
          </p:cNvPr>
          <p:cNvSpPr txBox="1"/>
          <p:nvPr/>
        </p:nvSpPr>
        <p:spPr>
          <a:xfrm>
            <a:off x="4602145" y="562708"/>
            <a:ext cx="2733152" cy="523220"/>
          </a:xfrm>
          <a:prstGeom prst="rect">
            <a:avLst/>
          </a:prstGeom>
          <a:noFill/>
        </p:spPr>
        <p:txBody>
          <a:bodyPr wrap="square" rtlCol="0">
            <a:spAutoFit/>
          </a:bodyPr>
          <a:lstStyle/>
          <a:p>
            <a:r>
              <a:rPr lang="en-IN" b="1" dirty="0">
                <a:latin typeface="Verdana" panose="020B0604030504040204" pitchFamily="34" charset="0"/>
                <a:ea typeface="Verdana" panose="020B0604030504040204" pitchFamily="34" charset="0"/>
              </a:rPr>
              <a:t>FLOW CHART:</a:t>
            </a:r>
          </a:p>
          <a:p>
            <a:endParaRPr lang="en-IN" dirty="0"/>
          </a:p>
        </p:txBody>
      </p:sp>
      <p:pic>
        <p:nvPicPr>
          <p:cNvPr id="7" name="Picture 6">
            <a:extLst>
              <a:ext uri="{FF2B5EF4-FFF2-40B4-BE49-F238E27FC236}">
                <a16:creationId xmlns:a16="http://schemas.microsoft.com/office/drawing/2014/main" id="{5FC940D9-C6D1-B4F8-9B82-BE35749032F2}"/>
              </a:ext>
            </a:extLst>
          </p:cNvPr>
          <p:cNvPicPr>
            <a:picLocks noChangeAspect="1"/>
          </p:cNvPicPr>
          <p:nvPr/>
        </p:nvPicPr>
        <p:blipFill>
          <a:blip r:embed="rId2"/>
          <a:stretch>
            <a:fillRect/>
          </a:stretch>
        </p:blipFill>
        <p:spPr>
          <a:xfrm>
            <a:off x="411982" y="954593"/>
            <a:ext cx="11639340" cy="5106202"/>
          </a:xfrm>
          <a:prstGeom prst="rect">
            <a:avLst/>
          </a:prstGeom>
        </p:spPr>
      </p:pic>
    </p:spTree>
    <p:extLst>
      <p:ext uri="{BB962C8B-B14F-4D97-AF65-F5344CB8AC3E}">
        <p14:creationId xmlns:p14="http://schemas.microsoft.com/office/powerpoint/2010/main" val="1786160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IN" dirty="0">
                <a:latin typeface="Verdana" panose="020B0604030504040204" pitchFamily="34" charset="0"/>
                <a:ea typeface="Verdana" panose="020B0604030504040204" pitchFamily="34" charset="0"/>
              </a:rPr>
              <a:t> </a:t>
            </a:r>
          </a:p>
        </p:txBody>
      </p:sp>
      <p:pic>
        <p:nvPicPr>
          <p:cNvPr id="6" name="Picture 5">
            <a:extLst>
              <a:ext uri="{FF2B5EF4-FFF2-40B4-BE49-F238E27FC236}">
                <a16:creationId xmlns:a16="http://schemas.microsoft.com/office/drawing/2014/main" id="{73E3102E-4131-94FA-902B-8808E0DCD36B}"/>
              </a:ext>
            </a:extLst>
          </p:cNvPr>
          <p:cNvPicPr>
            <a:picLocks noChangeAspect="1"/>
          </p:cNvPicPr>
          <p:nvPr/>
        </p:nvPicPr>
        <p:blipFill>
          <a:blip r:embed="rId2"/>
          <a:stretch>
            <a:fillRect/>
          </a:stretch>
        </p:blipFill>
        <p:spPr>
          <a:xfrm>
            <a:off x="1985962" y="1181100"/>
            <a:ext cx="8220075" cy="4495800"/>
          </a:xfrm>
          <a:prstGeom prst="rect">
            <a:avLst/>
          </a:prstGeom>
        </p:spPr>
      </p:pic>
    </p:spTree>
    <p:extLst>
      <p:ext uri="{BB962C8B-B14F-4D97-AF65-F5344CB8AC3E}">
        <p14:creationId xmlns:p14="http://schemas.microsoft.com/office/powerpoint/2010/main" val="2538241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776ED-2A9B-CE7C-C8B8-51DE760B0800}"/>
              </a:ext>
            </a:extLst>
          </p:cNvPr>
          <p:cNvPicPr>
            <a:picLocks noChangeAspect="1"/>
          </p:cNvPicPr>
          <p:nvPr/>
        </p:nvPicPr>
        <p:blipFill>
          <a:blip r:embed="rId2"/>
          <a:stretch>
            <a:fillRect/>
          </a:stretch>
        </p:blipFill>
        <p:spPr>
          <a:xfrm>
            <a:off x="2043112" y="1123950"/>
            <a:ext cx="8105775" cy="4610100"/>
          </a:xfrm>
          <a:prstGeom prst="rect">
            <a:avLst/>
          </a:prstGeom>
        </p:spPr>
      </p:pic>
    </p:spTree>
    <p:extLst>
      <p:ext uri="{BB962C8B-B14F-4D97-AF65-F5344CB8AC3E}">
        <p14:creationId xmlns:p14="http://schemas.microsoft.com/office/powerpoint/2010/main" val="289573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4699F-2F32-6373-90A1-7654CD0CD99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AD7A1D-5249-D763-88FC-F8C51F249F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C440BFE1-19BF-132D-F92A-C7FA9BDE0E70}"/>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sp>
        <p:nvSpPr>
          <p:cNvPr id="5" name="Google Shape;125;p3">
            <a:extLst>
              <a:ext uri="{FF2B5EF4-FFF2-40B4-BE49-F238E27FC236}">
                <a16:creationId xmlns:a16="http://schemas.microsoft.com/office/drawing/2014/main" id="{890043C5-15F6-81A6-997D-3671342A9EB4}"/>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 </a:t>
            </a:r>
          </a:p>
          <a:p>
            <a:pPr lvl="0"/>
            <a:endParaRPr lang="en-IN"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r>
              <a:rPr lang="en-IN" dirty="0">
                <a:latin typeface="Verdana" panose="020B0604030504040204" pitchFamily="34" charset="0"/>
                <a:ea typeface="Verdana" panose="020B0604030504040204" pitchFamily="34" charset="0"/>
              </a:rPr>
              <a:t> </a:t>
            </a:r>
          </a:p>
        </p:txBody>
      </p:sp>
      <p:pic>
        <p:nvPicPr>
          <p:cNvPr id="6" name="Picture 5">
            <a:extLst>
              <a:ext uri="{FF2B5EF4-FFF2-40B4-BE49-F238E27FC236}">
                <a16:creationId xmlns:a16="http://schemas.microsoft.com/office/drawing/2014/main" id="{6DB70E9B-C5E7-FDD0-798A-0B010D46FF54}"/>
              </a:ext>
            </a:extLst>
          </p:cNvPr>
          <p:cNvPicPr>
            <a:picLocks noChangeAspect="1"/>
          </p:cNvPicPr>
          <p:nvPr/>
        </p:nvPicPr>
        <p:blipFill>
          <a:blip r:embed="rId2"/>
          <a:stretch>
            <a:fillRect/>
          </a:stretch>
        </p:blipFill>
        <p:spPr>
          <a:xfrm>
            <a:off x="1245996" y="867056"/>
            <a:ext cx="9686611" cy="4877955"/>
          </a:xfrm>
          <a:prstGeom prst="rect">
            <a:avLst/>
          </a:prstGeom>
        </p:spPr>
      </p:pic>
    </p:spTree>
    <p:extLst>
      <p:ext uri="{BB962C8B-B14F-4D97-AF65-F5344CB8AC3E}">
        <p14:creationId xmlns:p14="http://schemas.microsoft.com/office/powerpoint/2010/main" val="16753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p>
          <a:p>
            <a:pPr lvl="0"/>
            <a:endParaRPr lang="en-US" b="1" dirty="0"/>
          </a:p>
          <a:p>
            <a:pPr lvl="0"/>
            <a:r>
              <a:rPr lang="en-US" b="1" dirty="0"/>
              <a:t>∙Biofouling / marine growth</a:t>
            </a:r>
            <a:r>
              <a:rPr lang="en-US" dirty="0"/>
              <a:t>: Seaweed, barnacles, </a:t>
            </a:r>
            <a:r>
              <a:rPr lang="en-US" dirty="0" err="1"/>
              <a:t>molluscs</a:t>
            </a:r>
            <a:r>
              <a:rPr lang="en-US" dirty="0"/>
              <a:t> etc. adhere to walls, screens or surfaces, increasing hydraulic resistance (head loss), reducing flow, increasing energy use or lowering cooling capacity.</a:t>
            </a:r>
          </a:p>
          <a:p>
            <a:pPr lvl="0"/>
            <a:endParaRPr lang="en-US" b="1" dirty="0"/>
          </a:p>
          <a:p>
            <a:pPr lvl="0"/>
            <a:r>
              <a:rPr lang="en-US" b="1" dirty="0"/>
              <a:t>∙Sedimentation &amp; debris</a:t>
            </a:r>
            <a:r>
              <a:rPr lang="en-US" dirty="0"/>
              <a:t>: Sediment buildup, debris or silt accumulation can block inlets, damage screens or filters, or restrict flow, leading to operational issues.</a:t>
            </a:r>
          </a:p>
          <a:p>
            <a:pPr lvl="0"/>
            <a:endParaRPr lang="en-US" b="1" dirty="0"/>
          </a:p>
          <a:p>
            <a:pPr lvl="0"/>
            <a:r>
              <a:rPr lang="en-US" b="1" dirty="0"/>
              <a:t>∙Corrosion, cracks, structural degradation</a:t>
            </a:r>
            <a:r>
              <a:rPr lang="en-US" dirty="0"/>
              <a:t>: Concrete or metal tunnels may degrade over time; early detection is crucial to avoid catastrophic failure.</a:t>
            </a:r>
          </a:p>
          <a:p>
            <a:pPr lvl="0"/>
            <a:endParaRPr lang="en-US" b="1" dirty="0">
              <a:latin typeface="Verdana" panose="020B0604030504040204" pitchFamily="34" charset="0"/>
              <a:ea typeface="Verdana" panose="020B0604030504040204" pitchFamily="34" charset="0"/>
            </a:endParaRPr>
          </a:p>
          <a:p>
            <a:pPr lvl="0"/>
            <a:r>
              <a:rPr lang="en-US" b="1" dirty="0">
                <a:latin typeface="Verdana" panose="020B0604030504040204" pitchFamily="34" charset="0"/>
                <a:ea typeface="Verdana" panose="020B0604030504040204" pitchFamily="34" charset="0"/>
              </a:rPr>
              <a:t>∙</a:t>
            </a:r>
            <a:r>
              <a:rPr lang="en-US" b="1" dirty="0"/>
              <a:t>Clogging of heat exchangers / condensers</a:t>
            </a:r>
            <a:r>
              <a:rPr lang="en-US" dirty="0"/>
              <a:t>: If organisms or debris pass through intake systems they can damage or clog cooling tubes.</a:t>
            </a: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endParaRPr lang="en-US" b="1" dirty="0"/>
          </a:p>
          <a:p>
            <a:pPr marL="285750" lvl="0" indent="-285750">
              <a:buFont typeface="Arial" panose="020B0604020202020204" pitchFamily="34" charset="0"/>
              <a:buChar char="•"/>
            </a:pPr>
            <a:endParaRPr lang="en-IN" b="1"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a:t>
            </a:r>
          </a:p>
          <a:p>
            <a:pPr marL="0" marR="0" lvl="0" indent="0" rtl="0">
              <a:lnSpc>
                <a:spcPct val="100000"/>
              </a:lnSpc>
              <a:spcBef>
                <a:spcPts val="0"/>
              </a:spcBef>
              <a:spcAft>
                <a:spcPts val="0"/>
              </a:spcAft>
              <a:buNone/>
            </a:pPr>
            <a:endParaRPr lang="en-IN" b="1" dirty="0">
              <a:latin typeface="Verdana" panose="020B0604030504040204" pitchFamily="34" charset="0"/>
              <a:ea typeface="Verdana" panose="020B0604030504040204" pitchFamily="34" charset="0"/>
            </a:endParaRPr>
          </a:p>
          <a:p>
            <a:pPr lvl="0"/>
            <a:r>
              <a:rPr lang="en-US" b="1" dirty="0"/>
              <a:t>∙Tunnel traversal &amp; mapping under typical flow: </a:t>
            </a:r>
            <a:r>
              <a:rPr lang="en-US" dirty="0"/>
              <a:t>verify that the AUV can traverse the full length of the intake tunnel while mapping geometry and surface condition during normal operational water flow.</a:t>
            </a:r>
          </a:p>
          <a:p>
            <a:pPr lvl="0"/>
            <a:endParaRPr lang="en-US" b="1" dirty="0">
              <a:latin typeface="Verdana" panose="020B0604030504040204" pitchFamily="34" charset="0"/>
              <a:ea typeface="Verdana" panose="020B0604030504040204" pitchFamily="34" charset="0"/>
            </a:endParaRPr>
          </a:p>
          <a:p>
            <a:pPr lvl="0"/>
            <a:r>
              <a:rPr lang="en-IN" b="1" dirty="0"/>
              <a:t>∙Cleaning performance: </a:t>
            </a:r>
            <a:r>
              <a:rPr lang="en-US" dirty="0"/>
              <a:t>To assess ability of the cleaning tools (brushes, jets, suction) to remove fouling, sediment buildup without damaging surfaces.</a:t>
            </a:r>
          </a:p>
          <a:p>
            <a:pPr lvl="0"/>
            <a:endParaRPr lang="en-US" b="1" dirty="0">
              <a:latin typeface="Verdana" panose="020B0604030504040204" pitchFamily="34" charset="0"/>
              <a:ea typeface="Verdana" panose="020B0604030504040204" pitchFamily="34" charset="0"/>
            </a:endParaRPr>
          </a:p>
          <a:p>
            <a:pPr lvl="0"/>
            <a:r>
              <a:rPr lang="en-IN" b="1" dirty="0"/>
              <a:t>∙Redundancy &amp; failure recovery: </a:t>
            </a:r>
            <a:r>
              <a:rPr lang="en-US" dirty="0"/>
              <a:t>Test behavior if key systems fail: CPU, sensors, communications, propulsion, etc. Ensure vehicle can self‑rescue or be recovered.</a:t>
            </a:r>
            <a:endParaRPr lang="en-IN"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66CEFD9-7B26-6898-09B3-3EB27735D805}"/>
              </a:ext>
            </a:extLst>
          </p:cNvPr>
          <p:cNvSpPr txBox="1"/>
          <p:nvPr/>
        </p:nvSpPr>
        <p:spPr>
          <a:xfrm>
            <a:off x="447261" y="377688"/>
            <a:ext cx="2941982" cy="400110"/>
          </a:xfrm>
          <a:prstGeom prst="rect">
            <a:avLst/>
          </a:prstGeom>
          <a:noFill/>
        </p:spPr>
        <p:txBody>
          <a:bodyPr wrap="square">
            <a:spAutoFit/>
          </a:bodyPr>
          <a:lstStyle/>
          <a:p>
            <a:r>
              <a:rPr lang="en-US" sz="2000" b="1" spc="-10" dirty="0">
                <a:effectLst/>
                <a:latin typeface="Times New Roman" panose="02020603050405020304" pitchFamily="18" charset="0"/>
                <a:ea typeface="Times New Roman" panose="02020603050405020304" pitchFamily="18" charset="0"/>
              </a:rPr>
              <a:t>Results :</a:t>
            </a:r>
            <a:endParaRPr lang="en-IN" sz="2000" dirty="0"/>
          </a:p>
        </p:txBody>
      </p:sp>
      <p:sp>
        <p:nvSpPr>
          <p:cNvPr id="7" name="TextBox 6">
            <a:extLst>
              <a:ext uri="{FF2B5EF4-FFF2-40B4-BE49-F238E27FC236}">
                <a16:creationId xmlns:a16="http://schemas.microsoft.com/office/drawing/2014/main" id="{103832A1-84BE-64FB-A91E-1E71769B8B17}"/>
              </a:ext>
            </a:extLst>
          </p:cNvPr>
          <p:cNvSpPr txBox="1"/>
          <p:nvPr/>
        </p:nvSpPr>
        <p:spPr>
          <a:xfrm>
            <a:off x="-99391" y="1103244"/>
            <a:ext cx="9245875" cy="469359"/>
          </a:xfrm>
          <a:prstGeom prst="rect">
            <a:avLst/>
          </a:prstGeom>
          <a:noFill/>
        </p:spPr>
        <p:txBody>
          <a:bodyPr wrap="square">
            <a:spAutoFit/>
          </a:bodyPr>
          <a:lstStyle/>
          <a:p>
            <a:pPr marL="798830">
              <a:tabLst>
                <a:tab pos="464185" algn="l"/>
              </a:tabLst>
            </a:pPr>
            <a:r>
              <a:rPr lang="en-US" sz="1400" b="1" spc="-10" dirty="0">
                <a:effectLst/>
                <a:latin typeface="Times New Roman" panose="02020603050405020304" pitchFamily="18" charset="0"/>
                <a:ea typeface="Times New Roman" panose="02020603050405020304" pitchFamily="18" charset="0"/>
              </a:rPr>
              <a:t> </a:t>
            </a:r>
            <a:r>
              <a:rPr lang="en-US" b="1" dirty="0"/>
              <a:t>DEPTH  CONTROLLER:</a:t>
            </a:r>
            <a:endParaRPr lang="en-IN" dirty="0"/>
          </a:p>
          <a:p>
            <a:pPr marL="798830">
              <a:buNone/>
              <a:tabLst>
                <a:tab pos="464185" algn="l"/>
              </a:tabLst>
            </a:pPr>
            <a:endParaRPr lang="en-IN" sz="1050" dirty="0">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89350563-C65C-2B25-B064-5E8E9EF53BC0}"/>
              </a:ext>
            </a:extLst>
          </p:cNvPr>
          <p:cNvPicPr>
            <a:picLocks noChangeAspect="1"/>
          </p:cNvPicPr>
          <p:nvPr/>
        </p:nvPicPr>
        <p:blipFill>
          <a:blip r:embed="rId2"/>
          <a:stretch>
            <a:fillRect/>
          </a:stretch>
        </p:blipFill>
        <p:spPr>
          <a:xfrm>
            <a:off x="447262" y="1572603"/>
            <a:ext cx="5182532" cy="3913797"/>
          </a:xfrm>
          <a:prstGeom prst="rect">
            <a:avLst/>
          </a:prstGeom>
        </p:spPr>
      </p:pic>
      <p:sp>
        <p:nvSpPr>
          <p:cNvPr id="10" name="TextBox 9">
            <a:extLst>
              <a:ext uri="{FF2B5EF4-FFF2-40B4-BE49-F238E27FC236}">
                <a16:creationId xmlns:a16="http://schemas.microsoft.com/office/drawing/2014/main" id="{0642F19C-8102-9D87-A074-BDB391835CFF}"/>
              </a:ext>
            </a:extLst>
          </p:cNvPr>
          <p:cNvSpPr txBox="1"/>
          <p:nvPr/>
        </p:nvSpPr>
        <p:spPr>
          <a:xfrm>
            <a:off x="5824329" y="1572603"/>
            <a:ext cx="6033053" cy="3970318"/>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The transmitted source pulse is initially strong, but as it travels underwater, the received signal on land arrives after a significant delay and with much weaker amplitude.</a:t>
            </a:r>
          </a:p>
          <a:p>
            <a:pPr marL="457200">
              <a:buNone/>
            </a:pPr>
            <a:r>
              <a:rPr lang="en-IN" sz="1800" dirty="0">
                <a:effectLst/>
                <a:latin typeface="Times New Roman" panose="02020603050405020304" pitchFamily="18" charset="0"/>
                <a:ea typeface="Times New Roman" panose="02020603050405020304" pitchFamily="18" charset="0"/>
              </a:rPr>
              <a:t> </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The frequency response plot reveals major attenuation at higher frequencies, indicating underwater environments tend to absorb and weaken high-frequency signals much more than low-frequency ones.</a:t>
            </a:r>
          </a:p>
          <a:p>
            <a:pPr marL="342900" lvl="0" indent="-342900">
              <a:buSzPts val="1000"/>
              <a:buFont typeface="Symbol" panose="05050102010706020507" pitchFamily="18" charset="2"/>
              <a:buChar char=""/>
              <a:tabLst>
                <a:tab pos="457200" algn="l"/>
              </a:tabLst>
            </a:pPr>
            <a:endParaRPr lang="en-IN" dirty="0">
              <a:latin typeface="Times New Roman" panose="02020603050405020304" pitchFamily="18" charset="0"/>
              <a:ea typeface="Times New Roman" panose="02020603050405020304" pitchFamily="18" charset="0"/>
            </a:endParaRPr>
          </a:p>
          <a:p>
            <a:pPr marL="342900" indent="-342900">
              <a:buSzPts val="1000"/>
              <a:buFont typeface="Symbol" panose="05050102010706020507" pitchFamily="18" charset="2"/>
              <a:buChar char=""/>
              <a:tabLst>
                <a:tab pos="457200" algn="l"/>
              </a:tabLst>
            </a:pPr>
            <a:r>
              <a:rPr lang="en-IN" sz="1600" dirty="0"/>
              <a:t>Overall, signals for depth control experience time delays and frequency-dependent loss, which must be addressed in the controller's design to ensure effective underwater vehicle performance</a:t>
            </a:r>
          </a:p>
          <a:p>
            <a:pPr marL="342900" lvl="0" indent="-342900">
              <a:buSzPts val="1000"/>
              <a:buFont typeface="Symbol" panose="05050102010706020507" pitchFamily="18" charset="2"/>
              <a:buChar char=""/>
              <a:tabLst>
                <a:tab pos="457200" algn="l"/>
              </a:tabLst>
            </a:pPr>
            <a:endParaRPr lang="en-IN" sz="1600" dirty="0">
              <a:effectLst/>
              <a:latin typeface="Times New Roman" panose="02020603050405020304" pitchFamily="18" charset="0"/>
              <a:ea typeface="Times New Roman" panose="02020603050405020304" pitchFamily="18" charset="0"/>
            </a:endParaRPr>
          </a:p>
          <a:p>
            <a:pPr>
              <a:buNone/>
            </a:pPr>
            <a:r>
              <a:rPr lang="en-IN" sz="14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4289575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7830D8-59E8-0D52-D15E-552AA8DC010F}"/>
              </a:ext>
            </a:extLst>
          </p:cNvPr>
          <p:cNvSpPr txBox="1"/>
          <p:nvPr/>
        </p:nvSpPr>
        <p:spPr>
          <a:xfrm>
            <a:off x="387626" y="258418"/>
            <a:ext cx="8758858" cy="307777"/>
          </a:xfrm>
          <a:prstGeom prst="rect">
            <a:avLst/>
          </a:prstGeom>
          <a:noFill/>
        </p:spPr>
        <p:txBody>
          <a:bodyPr wrap="square">
            <a:spAutoFit/>
          </a:bodyPr>
          <a:lstStyle/>
          <a:p>
            <a:r>
              <a:rPr lang="en-IN" sz="1400" b="1" dirty="0">
                <a:effectLst/>
                <a:latin typeface="Times New Roman" panose="02020603050405020304" pitchFamily="18" charset="0"/>
                <a:ea typeface="Times New Roman" panose="02020603050405020304" pitchFamily="18" charset="0"/>
              </a:rPr>
              <a:t>LAND TO SEA COMMUNICATION -</a:t>
            </a:r>
            <a:endParaRPr lang="en-IN" dirty="0"/>
          </a:p>
        </p:txBody>
      </p:sp>
      <p:pic>
        <p:nvPicPr>
          <p:cNvPr id="4" name="Picture 3">
            <a:extLst>
              <a:ext uri="{FF2B5EF4-FFF2-40B4-BE49-F238E27FC236}">
                <a16:creationId xmlns:a16="http://schemas.microsoft.com/office/drawing/2014/main" id="{E976E346-BA4B-5883-9451-DC4BA4A3DD6F}"/>
              </a:ext>
            </a:extLst>
          </p:cNvPr>
          <p:cNvPicPr>
            <a:picLocks noChangeAspect="1"/>
          </p:cNvPicPr>
          <p:nvPr/>
        </p:nvPicPr>
        <p:blipFill>
          <a:blip r:embed="rId2"/>
          <a:stretch>
            <a:fillRect/>
          </a:stretch>
        </p:blipFill>
        <p:spPr>
          <a:xfrm>
            <a:off x="387627" y="881062"/>
            <a:ext cx="5436703" cy="3259695"/>
          </a:xfrm>
          <a:prstGeom prst="rect">
            <a:avLst/>
          </a:prstGeom>
        </p:spPr>
      </p:pic>
      <p:sp>
        <p:nvSpPr>
          <p:cNvPr id="6" name="TextBox 5">
            <a:extLst>
              <a:ext uri="{FF2B5EF4-FFF2-40B4-BE49-F238E27FC236}">
                <a16:creationId xmlns:a16="http://schemas.microsoft.com/office/drawing/2014/main" id="{50CC38F9-A499-5382-DD47-99E21294CCC0}"/>
              </a:ext>
            </a:extLst>
          </p:cNvPr>
          <p:cNvSpPr txBox="1"/>
          <p:nvPr/>
        </p:nvSpPr>
        <p:spPr>
          <a:xfrm rot="10800000" flipV="1">
            <a:off x="228600" y="4259997"/>
            <a:ext cx="8917884" cy="1538883"/>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IN" sz="1600" u="sng" dirty="0">
                <a:effectLst/>
                <a:latin typeface="Times New Roman" panose="02020603050405020304" pitchFamily="18" charset="0"/>
                <a:ea typeface="Times New Roman" panose="02020603050405020304" pitchFamily="18" charset="0"/>
              </a:rPr>
              <a:t>The Problem is Absorption</a:t>
            </a:r>
            <a:r>
              <a:rPr lang="en-IN" sz="1600" dirty="0">
                <a:effectLst/>
                <a:latin typeface="Times New Roman" panose="02020603050405020304" pitchFamily="18" charset="0"/>
                <a:ea typeface="Times New Roman" panose="02020603050405020304" pitchFamily="18" charset="0"/>
              </a:rPr>
              <a:t>:- This shows the use a higher frequency (a higher-pitched sound, measured in kHz), the </a:t>
            </a:r>
            <a:r>
              <a:rPr lang="en-IN" sz="1600" b="1" dirty="0">
                <a:effectLst/>
                <a:latin typeface="Times New Roman" panose="02020603050405020304" pitchFamily="18" charset="0"/>
                <a:ea typeface="Times New Roman" panose="02020603050405020304" pitchFamily="18" charset="0"/>
              </a:rPr>
              <a:t>seawater absorbs much more energy</a:t>
            </a:r>
            <a:r>
              <a:rPr lang="en-IN" sz="1600" dirty="0">
                <a:effectLst/>
                <a:latin typeface="Times New Roman" panose="02020603050405020304" pitchFamily="18" charset="0"/>
                <a:ea typeface="Times New Roman" panose="02020603050405020304" pitchFamily="18" charset="0"/>
              </a:rPr>
              <a:t> from the signal. This absorption starts small but increases sharply, reaching over 30 dB/km at 100 kHz.</a:t>
            </a:r>
          </a:p>
          <a:p>
            <a:pPr marL="457200">
              <a:buNone/>
            </a:pPr>
            <a:r>
              <a:rPr lang="en-IN" sz="1400" dirty="0">
                <a:effectLst/>
                <a:latin typeface="Times New Roman" panose="02020603050405020304" pitchFamily="18" charset="0"/>
                <a:ea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endParaRPr>
          </a:p>
          <a:p>
            <a:pPr>
              <a:buNone/>
            </a:pPr>
            <a:r>
              <a:rPr lang="en-IN" sz="1400" dirty="0">
                <a:effectLst/>
                <a:latin typeface="Times New Roman" panose="02020603050405020304" pitchFamily="18" charset="0"/>
                <a:ea typeface="Times New Roman" panose="02020603050405020304" pitchFamily="18" charset="0"/>
              </a:rPr>
              <a:t>     </a:t>
            </a:r>
            <a:r>
              <a:rPr lang="en-IN" sz="1600" b="1" dirty="0">
                <a:effectLst/>
                <a:latin typeface="Times New Roman" panose="02020603050405020304" pitchFamily="18" charset="0"/>
                <a:ea typeface="Times New Roman" panose="02020603050405020304" pitchFamily="18" charset="0"/>
              </a:rPr>
              <a:t>.   </a:t>
            </a:r>
            <a:r>
              <a:rPr lang="en-IN" sz="1600" u="sng" dirty="0">
                <a:effectLst/>
                <a:latin typeface="Times New Roman" panose="02020603050405020304" pitchFamily="18" charset="0"/>
                <a:ea typeface="Times New Roman" panose="02020603050405020304" pitchFamily="18" charset="0"/>
              </a:rPr>
              <a:t>High Frequencies Fail</a:t>
            </a:r>
            <a:r>
              <a:rPr lang="en-IN" sz="1600" dirty="0">
                <a:effectLst/>
                <a:latin typeface="Times New Roman" panose="02020603050405020304" pitchFamily="18" charset="0"/>
                <a:ea typeface="Times New Roman" panose="02020603050405020304" pitchFamily="18" charset="0"/>
              </a:rPr>
              <a:t>:-</a:t>
            </a:r>
            <a:r>
              <a:rPr lang="en-US" sz="1600" dirty="0">
                <a:effectLst/>
                <a:latin typeface="Times New Roman" panose="02020603050405020304" pitchFamily="18" charset="0"/>
                <a:ea typeface="Times New Roman" panose="02020603050405020304" pitchFamily="18" charset="0"/>
              </a:rPr>
              <a:t> Because high-frequency signals are absorbed so quickly by the water, the </a:t>
            </a:r>
            <a:r>
              <a:rPr lang="en-US" sz="1600" b="1" dirty="0">
                <a:effectLst/>
                <a:latin typeface="Times New Roman" panose="02020603050405020304" pitchFamily="18" charset="0"/>
                <a:ea typeface="Times New Roman" panose="02020603050405020304" pitchFamily="18" charset="0"/>
              </a:rPr>
              <a:t>total signal loss</a:t>
            </a:r>
            <a:r>
              <a:rPr lang="en-US" sz="1600" dirty="0">
                <a:effectLst/>
                <a:latin typeface="Times New Roman" panose="02020603050405020304" pitchFamily="18" charset="0"/>
                <a:ea typeface="Times New Roman" panose="02020603050405020304" pitchFamily="18" charset="0"/>
              </a:rPr>
              <a:t> (top graph)   increases as the frequency goes up.</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34528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AFA525-0B45-6FA0-9394-FC25DB5E0532}"/>
              </a:ext>
            </a:extLst>
          </p:cNvPr>
          <p:cNvSpPr txBox="1"/>
          <p:nvPr/>
        </p:nvSpPr>
        <p:spPr>
          <a:xfrm>
            <a:off x="268357" y="248478"/>
            <a:ext cx="8878127" cy="307777"/>
          </a:xfrm>
          <a:prstGeom prst="rect">
            <a:avLst/>
          </a:prstGeom>
          <a:noFill/>
        </p:spPr>
        <p:txBody>
          <a:bodyPr wrap="square">
            <a:spAutoFit/>
          </a:bodyPr>
          <a:lstStyle/>
          <a:p>
            <a:r>
              <a:rPr lang="en-IN" dirty="0"/>
              <a:t>* Underwater acoustic propagation:-</a:t>
            </a:r>
          </a:p>
        </p:txBody>
      </p:sp>
      <p:pic>
        <p:nvPicPr>
          <p:cNvPr id="4" name="Picture 3">
            <a:extLst>
              <a:ext uri="{FF2B5EF4-FFF2-40B4-BE49-F238E27FC236}">
                <a16:creationId xmlns:a16="http://schemas.microsoft.com/office/drawing/2014/main" id="{E2503EB3-263C-7489-BC7D-582F131F2984}"/>
              </a:ext>
            </a:extLst>
          </p:cNvPr>
          <p:cNvPicPr>
            <a:picLocks noChangeAspect="1"/>
          </p:cNvPicPr>
          <p:nvPr/>
        </p:nvPicPr>
        <p:blipFill>
          <a:blip r:embed="rId2"/>
          <a:stretch>
            <a:fillRect/>
          </a:stretch>
        </p:blipFill>
        <p:spPr>
          <a:xfrm>
            <a:off x="457200" y="884583"/>
            <a:ext cx="2842591" cy="2842592"/>
          </a:xfrm>
          <a:prstGeom prst="rect">
            <a:avLst/>
          </a:prstGeom>
        </p:spPr>
      </p:pic>
      <p:pic>
        <p:nvPicPr>
          <p:cNvPr id="5" name="Picture 4">
            <a:extLst>
              <a:ext uri="{FF2B5EF4-FFF2-40B4-BE49-F238E27FC236}">
                <a16:creationId xmlns:a16="http://schemas.microsoft.com/office/drawing/2014/main" id="{446269EE-0E5D-12A9-0482-5E9E235D3E9A}"/>
              </a:ext>
            </a:extLst>
          </p:cNvPr>
          <p:cNvPicPr>
            <a:picLocks noChangeAspect="1"/>
          </p:cNvPicPr>
          <p:nvPr/>
        </p:nvPicPr>
        <p:blipFill>
          <a:blip r:embed="rId3"/>
          <a:stretch>
            <a:fillRect/>
          </a:stretch>
        </p:blipFill>
        <p:spPr>
          <a:xfrm>
            <a:off x="3919537" y="884584"/>
            <a:ext cx="3485115" cy="2842591"/>
          </a:xfrm>
          <a:prstGeom prst="rect">
            <a:avLst/>
          </a:prstGeom>
        </p:spPr>
      </p:pic>
      <p:pic>
        <p:nvPicPr>
          <p:cNvPr id="6" name="Picture 5">
            <a:extLst>
              <a:ext uri="{FF2B5EF4-FFF2-40B4-BE49-F238E27FC236}">
                <a16:creationId xmlns:a16="http://schemas.microsoft.com/office/drawing/2014/main" id="{FEFC2DDA-0801-BCDA-B42C-29A3CB5CED75}"/>
              </a:ext>
            </a:extLst>
          </p:cNvPr>
          <p:cNvPicPr>
            <a:picLocks noChangeAspect="1"/>
          </p:cNvPicPr>
          <p:nvPr/>
        </p:nvPicPr>
        <p:blipFill>
          <a:blip r:embed="rId4"/>
          <a:stretch>
            <a:fillRect/>
          </a:stretch>
        </p:blipFill>
        <p:spPr>
          <a:xfrm>
            <a:off x="7663070" y="785191"/>
            <a:ext cx="4412972" cy="3120887"/>
          </a:xfrm>
          <a:prstGeom prst="rect">
            <a:avLst/>
          </a:prstGeom>
        </p:spPr>
      </p:pic>
      <p:sp>
        <p:nvSpPr>
          <p:cNvPr id="8" name="TextBox 7">
            <a:extLst>
              <a:ext uri="{FF2B5EF4-FFF2-40B4-BE49-F238E27FC236}">
                <a16:creationId xmlns:a16="http://schemas.microsoft.com/office/drawing/2014/main" id="{29EBFEAA-7687-FD42-14AE-2085A14A46B6}"/>
              </a:ext>
            </a:extLst>
          </p:cNvPr>
          <p:cNvSpPr txBox="1"/>
          <p:nvPr/>
        </p:nvSpPr>
        <p:spPr>
          <a:xfrm>
            <a:off x="457199" y="4135014"/>
            <a:ext cx="11171583" cy="2923877"/>
          </a:xfrm>
          <a:prstGeom prst="rect">
            <a:avLst/>
          </a:prstGeom>
          <a:noFill/>
        </p:spPr>
        <p:txBody>
          <a:bodyPr wrap="square">
            <a:spAutoFit/>
          </a:bodyPr>
          <a:lstStyle/>
          <a:p>
            <a:r>
              <a:rPr lang="en-US" dirty="0"/>
              <a:t>1.	Absorption (The Distance Problem)-</a:t>
            </a:r>
          </a:p>
          <a:p>
            <a:endParaRPr lang="en-US" dirty="0"/>
          </a:p>
          <a:p>
            <a:r>
              <a:rPr lang="en-US" dirty="0"/>
              <a:t>Sound gets weaker as it travels through water because the water absorbs its energy. High-pitch (high-frequency) sounds get absorbed very quickly and can’t go far. Low-pitch (low-frequency) sounds travel much farther, which is why they’re used for long-distance underwater communication.</a:t>
            </a:r>
          </a:p>
          <a:p>
            <a:endParaRPr lang="en-US" dirty="0"/>
          </a:p>
          <a:p>
            <a:r>
              <a:rPr lang="en-US" dirty="0"/>
              <a:t>2. Total Signal Loss (The Fading Problem)-</a:t>
            </a:r>
          </a:p>
          <a:p>
            <a:endParaRPr lang="en-US" dirty="0"/>
          </a:p>
          <a:p>
            <a:r>
              <a:rPr lang="en-US" dirty="0"/>
              <a:t>As sound moves through water, it not only gets absorbed but also spreads out in all directions, weakening it even more. This means the farther the sound travels, the weaker it becomes. After about 5 km, most signals </a:t>
            </a:r>
            <a:r>
              <a:rPr lang="en-IN" dirty="0"/>
              <a:t>lose almost all their strength.</a:t>
            </a:r>
            <a:endParaRPr lang="en-US" dirty="0"/>
          </a:p>
          <a:p>
            <a:endParaRPr lang="en-US" dirty="0"/>
          </a:p>
          <a:p>
            <a:endParaRPr lang="en-US" dirty="0"/>
          </a:p>
          <a:p>
            <a:r>
              <a:rPr lang="en-US" dirty="0"/>
              <a:t>     </a:t>
            </a:r>
          </a:p>
        </p:txBody>
      </p:sp>
    </p:spTree>
    <p:extLst>
      <p:ext uri="{BB962C8B-B14F-4D97-AF65-F5344CB8AC3E}">
        <p14:creationId xmlns:p14="http://schemas.microsoft.com/office/powerpoint/2010/main" val="2025078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CC0EFC-5978-E2DB-C686-389A9F788318}"/>
              </a:ext>
            </a:extLst>
          </p:cNvPr>
          <p:cNvSpPr txBox="1"/>
          <p:nvPr/>
        </p:nvSpPr>
        <p:spPr>
          <a:xfrm>
            <a:off x="-340416" y="353362"/>
            <a:ext cx="11839990" cy="1361911"/>
          </a:xfrm>
          <a:prstGeom prst="rect">
            <a:avLst/>
          </a:prstGeom>
          <a:noFill/>
        </p:spPr>
        <p:txBody>
          <a:bodyPr wrap="square">
            <a:spAutoFit/>
          </a:bodyPr>
          <a:lstStyle/>
          <a:p>
            <a:pPr marL="798830">
              <a:spcBef>
                <a:spcPts val="270"/>
              </a:spcBef>
              <a:buNone/>
            </a:pPr>
            <a:r>
              <a:rPr lang="en-IN" sz="1600" dirty="0">
                <a:effectLst/>
                <a:latin typeface="Times New Roman" panose="02020603050405020304" pitchFamily="18" charset="0"/>
                <a:ea typeface="Times New Roman" panose="02020603050405020304" pitchFamily="18" charset="0"/>
              </a:rPr>
              <a:t>3. </a:t>
            </a:r>
            <a:r>
              <a:rPr lang="en-IN" sz="1600" u="sng" dirty="0">
                <a:effectLst/>
                <a:latin typeface="Times New Roman" panose="02020603050405020304" pitchFamily="18" charset="0"/>
                <a:ea typeface="Times New Roman" panose="02020603050405020304" pitchFamily="18" charset="0"/>
              </a:rPr>
              <a:t>Measurement Challenges (The Accuracy Problem)-</a:t>
            </a:r>
            <a:endParaRPr lang="en-IN" sz="1600" dirty="0">
              <a:effectLst/>
              <a:latin typeface="Times New Roman" panose="02020603050405020304" pitchFamily="18" charset="0"/>
              <a:ea typeface="Times New Roman" panose="02020603050405020304" pitchFamily="18" charset="0"/>
            </a:endParaRPr>
          </a:p>
          <a:p>
            <a:pPr marL="798830">
              <a:spcBef>
                <a:spcPts val="270"/>
              </a:spcBef>
              <a:buNone/>
            </a:pPr>
            <a:br>
              <a:rPr lang="en-IN" sz="1600" dirty="0">
                <a:effectLst/>
                <a:latin typeface="Times New Roman" panose="02020603050405020304" pitchFamily="18" charset="0"/>
                <a:ea typeface="Times New Roman" panose="02020603050405020304" pitchFamily="18" charset="0"/>
              </a:rPr>
            </a:br>
            <a:r>
              <a:rPr lang="en-IN" sz="1600" dirty="0">
                <a:effectLst/>
                <a:latin typeface="Times New Roman" panose="02020603050405020304" pitchFamily="18" charset="0"/>
                <a:ea typeface="Times New Roman" panose="02020603050405020304" pitchFamily="18" charset="0"/>
              </a:rPr>
              <a:t>Underwater sonar readings are often noisy and unreliable. Some signals bounce off surfaces like the sea floor or the water surface before reaching the receiver — this “multipath” effect causes errors because the sound takes longer to return, leading the system to think the object is farther away than it really is.</a:t>
            </a:r>
          </a:p>
        </p:txBody>
      </p:sp>
      <p:sp>
        <p:nvSpPr>
          <p:cNvPr id="5" name="TextBox 4">
            <a:extLst>
              <a:ext uri="{FF2B5EF4-FFF2-40B4-BE49-F238E27FC236}">
                <a16:creationId xmlns:a16="http://schemas.microsoft.com/office/drawing/2014/main" id="{E97633B1-D2A2-2231-8683-C45B3E85AFC8}"/>
              </a:ext>
            </a:extLst>
          </p:cNvPr>
          <p:cNvSpPr txBox="1"/>
          <p:nvPr/>
        </p:nvSpPr>
        <p:spPr>
          <a:xfrm>
            <a:off x="-424898" y="1992964"/>
            <a:ext cx="6266620" cy="338554"/>
          </a:xfrm>
          <a:prstGeom prst="rect">
            <a:avLst/>
          </a:prstGeom>
          <a:noFill/>
        </p:spPr>
        <p:txBody>
          <a:bodyPr wrap="square">
            <a:spAutoFit/>
          </a:bodyPr>
          <a:lstStyle/>
          <a:p>
            <a:pPr marL="798830">
              <a:buNone/>
            </a:pPr>
            <a:r>
              <a:rPr lang="en-IN" sz="1600" dirty="0">
                <a:effectLst/>
                <a:latin typeface="Times New Roman" panose="02020603050405020304" pitchFamily="18" charset="0"/>
                <a:ea typeface="Times New Roman" panose="02020603050405020304" pitchFamily="18" charset="0"/>
              </a:rPr>
              <a:t>* </a:t>
            </a:r>
            <a:r>
              <a:rPr lang="en-US" sz="1600" b="1" dirty="0">
                <a:effectLst/>
                <a:latin typeface="Times New Roman" panose="02020603050405020304" pitchFamily="18" charset="0"/>
                <a:ea typeface="Times New Roman" panose="02020603050405020304" pitchFamily="18" charset="0"/>
              </a:rPr>
              <a:t>DEPTH ESTIMATION SOALR</a:t>
            </a:r>
            <a:r>
              <a:rPr lang="en-US" sz="1400" dirty="0">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p:txBody>
      </p:sp>
      <p:sp>
        <p:nvSpPr>
          <p:cNvPr id="6" name="AutoShape 2">
            <a:extLst>
              <a:ext uri="{FF2B5EF4-FFF2-40B4-BE49-F238E27FC236}">
                <a16:creationId xmlns:a16="http://schemas.microsoft.com/office/drawing/2014/main" id="{8BFE6FA1-F029-6403-AAEE-D34544E1543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FDC2B40-189E-54A8-CB38-42E07D9F3387}"/>
              </a:ext>
            </a:extLst>
          </p:cNvPr>
          <p:cNvPicPr>
            <a:picLocks noChangeAspect="1"/>
          </p:cNvPicPr>
          <p:nvPr/>
        </p:nvPicPr>
        <p:blipFill>
          <a:blip r:embed="rId2"/>
          <a:stretch>
            <a:fillRect/>
          </a:stretch>
        </p:blipFill>
        <p:spPr>
          <a:xfrm>
            <a:off x="367748" y="2331518"/>
            <a:ext cx="9193695" cy="4337639"/>
          </a:xfrm>
          <a:prstGeom prst="rect">
            <a:avLst/>
          </a:prstGeom>
        </p:spPr>
      </p:pic>
    </p:spTree>
    <p:extLst>
      <p:ext uri="{BB962C8B-B14F-4D97-AF65-F5344CB8AC3E}">
        <p14:creationId xmlns:p14="http://schemas.microsoft.com/office/powerpoint/2010/main" val="18411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7A157100-614A-B866-EF1A-727D8E8D257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F01BE3DE-F2F5-04A3-CF27-F32E8291F9DD}"/>
              </a:ext>
            </a:extLst>
          </p:cNvPr>
          <p:cNvPicPr>
            <a:picLocks noChangeAspect="1"/>
          </p:cNvPicPr>
          <p:nvPr/>
        </p:nvPicPr>
        <p:blipFill>
          <a:blip r:embed="rId2"/>
          <a:stretch>
            <a:fillRect/>
          </a:stretch>
        </p:blipFill>
        <p:spPr>
          <a:xfrm>
            <a:off x="1019964" y="248478"/>
            <a:ext cx="7885498" cy="2683565"/>
          </a:xfrm>
          <a:prstGeom prst="rect">
            <a:avLst/>
          </a:prstGeom>
        </p:spPr>
      </p:pic>
      <p:sp>
        <p:nvSpPr>
          <p:cNvPr id="5" name="TextBox 4">
            <a:extLst>
              <a:ext uri="{FF2B5EF4-FFF2-40B4-BE49-F238E27FC236}">
                <a16:creationId xmlns:a16="http://schemas.microsoft.com/office/drawing/2014/main" id="{D70B1718-36D6-3DB7-D7DF-DF5B6EB500F6}"/>
              </a:ext>
            </a:extLst>
          </p:cNvPr>
          <p:cNvSpPr txBox="1"/>
          <p:nvPr/>
        </p:nvSpPr>
        <p:spPr>
          <a:xfrm>
            <a:off x="944217" y="3276600"/>
            <a:ext cx="8189844" cy="2831544"/>
          </a:xfrm>
          <a:prstGeom prst="rect">
            <a:avLst/>
          </a:prstGeom>
          <a:noFill/>
        </p:spPr>
        <p:txBody>
          <a:bodyPr wrap="square">
            <a:spAutoFit/>
          </a:bodyPr>
          <a:lstStyle/>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Underwater vehicles need to know their depth very accurately, but each sensor alone can make mistakes.</a:t>
            </a:r>
          </a:p>
          <a:p>
            <a:pPr marL="228600">
              <a:buNone/>
            </a:pPr>
            <a:r>
              <a:rPr lang="en-IN" sz="1800" dirty="0">
                <a:effectLst/>
                <a:latin typeface="Times New Roman" panose="02020603050405020304" pitchFamily="18" charset="0"/>
                <a:ea typeface="Times New Roman" panose="02020603050405020304" pitchFamily="18" charset="0"/>
              </a:rPr>
              <a:t> </a:t>
            </a: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The two main sensors used are:</a:t>
            </a:r>
          </a:p>
          <a:p>
            <a:pPr marL="742950" lvl="1" indent="-285750">
              <a:buSzPts val="1000"/>
              <a:buFont typeface="Symbol" panose="05050102010706020507" pitchFamily="18" charset="2"/>
              <a:buChar char=""/>
              <a:tabLst>
                <a:tab pos="914400" algn="l"/>
              </a:tabLst>
            </a:pPr>
            <a:r>
              <a:rPr lang="en-IN" sz="1800" dirty="0">
                <a:effectLst/>
                <a:latin typeface="Times New Roman" panose="02020603050405020304" pitchFamily="18" charset="0"/>
                <a:ea typeface="Times New Roman" panose="02020603050405020304" pitchFamily="18" charset="0"/>
              </a:rPr>
              <a:t>A pressure sensor, which is usually noisy (the readings jump around).</a:t>
            </a:r>
          </a:p>
          <a:p>
            <a:pPr marL="685800">
              <a:buNone/>
            </a:pPr>
            <a:r>
              <a:rPr lang="en-IN" sz="16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rPr>
              <a:t>By using EKF, both sensors’ data are combined smartly:</a:t>
            </a:r>
          </a:p>
          <a:p>
            <a:pPr marL="742950" lvl="1" indent="-285750">
              <a:buSzPts val="1000"/>
              <a:buFont typeface="Symbol" panose="05050102010706020507" pitchFamily="18" charset="2"/>
              <a:buChar char=""/>
              <a:tabLst>
                <a:tab pos="914400" algn="l"/>
              </a:tabLst>
            </a:pPr>
            <a:r>
              <a:rPr lang="en-IN" sz="1800" dirty="0">
                <a:effectLst/>
                <a:latin typeface="Times New Roman" panose="02020603050405020304" pitchFamily="18" charset="0"/>
                <a:ea typeface="Times New Roman" panose="02020603050405020304" pitchFamily="18" charset="0"/>
              </a:rPr>
              <a:t>The EKF smooths out the noisy pressure data using the accelerometer readings.</a:t>
            </a:r>
          </a:p>
          <a:p>
            <a:pPr marL="742950" lvl="1" indent="-285750">
              <a:buSzPts val="1000"/>
              <a:buFont typeface="Symbol" panose="05050102010706020507" pitchFamily="18" charset="2"/>
              <a:buChar char=""/>
              <a:tabLst>
                <a:tab pos="914400" algn="l"/>
              </a:tabLst>
            </a:pPr>
            <a:r>
              <a:rPr lang="en-IN" sz="1800" dirty="0">
                <a:effectLst/>
                <a:latin typeface="Times New Roman" panose="02020603050405020304" pitchFamily="18" charset="0"/>
                <a:ea typeface="Times New Roman" panose="02020603050405020304" pitchFamily="18" charset="0"/>
              </a:rPr>
              <a:t>The EKF also learns and corrects for the small error in the accelerometer.</a:t>
            </a:r>
          </a:p>
        </p:txBody>
      </p:sp>
    </p:spTree>
    <p:extLst>
      <p:ext uri="{BB962C8B-B14F-4D97-AF65-F5344CB8AC3E}">
        <p14:creationId xmlns:p14="http://schemas.microsoft.com/office/powerpoint/2010/main" val="636573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EBB2471F-DABE-7274-D122-9C8887D724E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86937B1E-87C6-3748-01A6-D17BF347BBB8}"/>
              </a:ext>
            </a:extLst>
          </p:cNvPr>
          <p:cNvPicPr>
            <a:picLocks noChangeAspect="1"/>
          </p:cNvPicPr>
          <p:nvPr/>
        </p:nvPicPr>
        <p:blipFill>
          <a:blip r:embed="rId2"/>
          <a:stretch>
            <a:fillRect/>
          </a:stretch>
        </p:blipFill>
        <p:spPr>
          <a:xfrm>
            <a:off x="92765" y="248478"/>
            <a:ext cx="6003235" cy="3045210"/>
          </a:xfrm>
          <a:prstGeom prst="rect">
            <a:avLst/>
          </a:prstGeom>
        </p:spPr>
      </p:pic>
      <p:pic>
        <p:nvPicPr>
          <p:cNvPr id="4" name="Picture 3">
            <a:extLst>
              <a:ext uri="{FF2B5EF4-FFF2-40B4-BE49-F238E27FC236}">
                <a16:creationId xmlns:a16="http://schemas.microsoft.com/office/drawing/2014/main" id="{303758D1-488E-AF72-D1D1-8391756208C9}"/>
              </a:ext>
            </a:extLst>
          </p:cNvPr>
          <p:cNvPicPr>
            <a:picLocks noChangeAspect="1"/>
          </p:cNvPicPr>
          <p:nvPr/>
        </p:nvPicPr>
        <p:blipFill>
          <a:blip r:embed="rId3"/>
          <a:stretch>
            <a:fillRect/>
          </a:stretch>
        </p:blipFill>
        <p:spPr>
          <a:xfrm>
            <a:off x="6248400" y="221096"/>
            <a:ext cx="5821263" cy="3055504"/>
          </a:xfrm>
          <a:prstGeom prst="rect">
            <a:avLst/>
          </a:prstGeom>
        </p:spPr>
      </p:pic>
      <p:pic>
        <p:nvPicPr>
          <p:cNvPr id="5" name="Picture 4">
            <a:extLst>
              <a:ext uri="{FF2B5EF4-FFF2-40B4-BE49-F238E27FC236}">
                <a16:creationId xmlns:a16="http://schemas.microsoft.com/office/drawing/2014/main" id="{BE5426E2-BA48-8BB1-63D9-253C3BEE1959}"/>
              </a:ext>
            </a:extLst>
          </p:cNvPr>
          <p:cNvPicPr>
            <a:picLocks noChangeAspect="1"/>
          </p:cNvPicPr>
          <p:nvPr/>
        </p:nvPicPr>
        <p:blipFill>
          <a:blip r:embed="rId3"/>
          <a:stretch>
            <a:fillRect/>
          </a:stretch>
        </p:blipFill>
        <p:spPr>
          <a:xfrm>
            <a:off x="1470029" y="3796748"/>
            <a:ext cx="8589407" cy="2840156"/>
          </a:xfrm>
          <a:prstGeom prst="rect">
            <a:avLst/>
          </a:prstGeom>
        </p:spPr>
      </p:pic>
    </p:spTree>
    <p:extLst>
      <p:ext uri="{BB962C8B-B14F-4D97-AF65-F5344CB8AC3E}">
        <p14:creationId xmlns:p14="http://schemas.microsoft.com/office/powerpoint/2010/main" val="2651763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US" dirty="0"/>
              <a:t>Sea water intake tunnels in nuclear power plants are critical infrastructure. They must allow sufficient cooling water flow, resist marine growth and sediment clogging, and remain structurally sound (no cracks, corrosion or deformation). Maintenance and inspection are mandatory for safety, regulatory compliance, and operational efficiency.</a:t>
            </a:r>
          </a:p>
          <a:p>
            <a:endParaRPr lang="en-US" dirty="0">
              <a:latin typeface="Verdana" panose="020B0604030504040204" pitchFamily="34" charset="0"/>
              <a:ea typeface="Verdana" panose="020B0604030504040204" pitchFamily="34" charset="0"/>
            </a:endParaRPr>
          </a:p>
          <a:p>
            <a:r>
              <a:rPr lang="en-US" dirty="0"/>
              <a:t>It is feasible to design, prototype or simulate an AUV system that can perform inspection (mapping + defect detection, e.g. siltation or cracks) in a controlled or scaled test environment. Designing full‑scale cleaning capability under realistic nuclear plant conditions is more challenging but possible with careful trade‑offs.</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pPr marL="342900" lvl="0" indent="-342900">
              <a:buAutoNum type="arabicPeriod"/>
            </a:pPr>
            <a:r>
              <a:rPr lang="en-US" dirty="0"/>
              <a:t>Advanced Sensor Fusion for Improved Localization</a:t>
            </a:r>
          </a:p>
          <a:p>
            <a:pPr marL="342900" lvl="0" indent="-342900">
              <a:buAutoNum type="arabicPeriod"/>
            </a:pPr>
            <a:r>
              <a:rPr lang="en-IN" dirty="0"/>
              <a:t>Autonomous/Adaptive Cleaning Mechanisms</a:t>
            </a:r>
          </a:p>
          <a:p>
            <a:pPr marL="342900" lvl="0" indent="-342900">
              <a:buAutoNum type="arabicPeriod"/>
            </a:pPr>
            <a:r>
              <a:rPr lang="en-IN" dirty="0"/>
              <a:t>Energy Efficiency &amp; Longer Mission Duration</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3546</TotalTime>
  <Words>1101</Words>
  <Application>Microsoft Office PowerPoint</Application>
  <PresentationFormat>Widescreen</PresentationFormat>
  <Paragraphs>134</Paragraphs>
  <Slides>18</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Symbol</vt:lpstr>
      <vt:lpstr>Open Sans</vt:lpstr>
      <vt:lpstr>Plus Jakarta Sans</vt:lpstr>
      <vt:lpstr>Montserrat Medium</vt:lpstr>
      <vt:lpstr>Times New Roman</vt:lpstr>
      <vt:lpstr>Montserrat</vt:lpstr>
      <vt:lpstr>Verdana</vt:lpstr>
      <vt:lpstr>Calibri</vt:lpstr>
      <vt:lpstr>Aharoni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POLISETTY KARTHIK</cp:lastModifiedBy>
  <cp:revision>40</cp:revision>
  <dcterms:created xsi:type="dcterms:W3CDTF">2022-05-23T07:15:42Z</dcterms:created>
  <dcterms:modified xsi:type="dcterms:W3CDTF">2025-11-20T17:46:41Z</dcterms:modified>
</cp:coreProperties>
</file>